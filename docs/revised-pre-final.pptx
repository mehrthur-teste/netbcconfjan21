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Play"/>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gLeuIf4M0QZdbbAif2W07LSeTF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lay-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Play-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8df0275c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8df0275c8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b8df0275c8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8df0275c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8df0275c8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b8df0275c8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8df0275c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b8df0275c8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b8df0275c8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CA" sz="1200">
                <a:solidFill>
                  <a:schemeClr val="dk1"/>
                </a:solidFill>
                <a:latin typeface="Arial"/>
                <a:ea typeface="Arial"/>
                <a:cs typeface="Arial"/>
                <a:sym typeface="Arial"/>
              </a:rPr>
              <a:t>using Microsoft.Agents.AI.Workflows;</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namespace WorkflowExecutorsAndEdgesSample;</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This sample introduces the concepts of executors and edges in a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Workflows are built from executors (processing units) connected by edges (data flow paths).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In this example, we create a simple text processing pipeline that: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1. Takes input text and converts it to uppercase using an UppercaseExecutor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2. Takes the uppercase text and reverses it using a ReverseTextExecutor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executors are connected sequentially, so data flows from one to the next in order.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For input "Hello, World!", the workflow produces "!DLROW ,OLLEH".</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static class Program</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private static async Task Main()</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Create the executors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Func&lt;string, string&gt; uppercaseFunc = s =&gt; s.ToUpperInvariant();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uppercase = uppercaseFunc.BindAsExecutor("UppercaseExecutor");</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ReverseTextExecutor reverse = new();</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Build the workflow by connecting executors sequentially</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WorkflowBuilder builder = new(uppercase);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builder.AddEdge(uppercase, reverse).WithOutputFrom(reverse);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workflow = builder.Build();</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Execute the workflow with input 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await using Run run = await InProcessExecution.RunAsync(workflow, "Hello, World!");</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foreach (WorkflowEvent evt in run.NewEvents)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if (evt is ExecutorCompletedEvent executorComplete)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Console.WriteLine($"{executorComplete.ExecutorId}: {executorComplete.Data}");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Second executor: reverses the input text and completes the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internal sealed class ReverseTextExecutor() : Executor&lt;string, string&gt;("ReverseTextExecutor")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Processes the input message by reversing the text.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name="message"&gt;The input text to reverse&lt;/param&gt;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name="context"&gt;Workflow context for accessing workflow services and adding events&lt;/param&gt;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name="cancellationToken"&gt;The &lt;see cref="CancellationToken"/&gt; to monitor for cancellation requests.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default is &lt;see cref="CancellationToken.None"/&gt;.&lt;/param&gt;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&lt;returns&gt;The input text reversed&lt;/returns&gt;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override ValueTask&lt;string&gt; HandleAsync(string message, IWorkflowContext context, CancellationToken cancellationToken = default)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Because we do not suppress it, the returned result will be yielded as an output from this 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return ValueTask.FromResult(string.Concat(message.Reverse()));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p:txBody>
      </p:sp>
      <p:sp>
        <p:nvSpPr>
          <p:cNvPr id="231" name="Google Shape;23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8df0275c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b8df0275c8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CA" sz="1200">
                <a:solidFill>
                  <a:schemeClr val="dk1"/>
                </a:solidFill>
                <a:latin typeface="Arial"/>
                <a:ea typeface="Arial"/>
                <a:cs typeface="Arial"/>
                <a:sym typeface="Arial"/>
              </a:rPr>
              <a:t>using Microsoft.Agents.AI.Workflows;</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namespace WorkflowExecutorsAndEdgesSample;</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This sample introduces the concepts of executors and edges in a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Workflows are built from executors (processing units) connected by edges (data flow paths).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In this example, we create a simple text processing pipeline that: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1. Takes input text and converts it to uppercase using an UppercaseExecutor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2. Takes the uppercase text and reverses it using a ReverseTextExecutor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executors are connected sequentially, so data flows from one to the next in order.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For input "Hello, World!", the workflow produces "!DLROW ,OLLEH".</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static class Program</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private static async Task Main()</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Create the executors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Func&lt;string, string&gt; uppercaseFunc = s =&gt; s.ToUpperInvariant();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uppercase = uppercaseFunc.BindAsExecutor("UppercaseExecutor");</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ReverseTextExecutor reverse = new();</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Build the workflow by connecting executors sequentially</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WorkflowBuilder builder = new(uppercase);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builder.AddEdge(uppercase, reverse).WithOutputFrom(reverse);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workflow = builder.Build();</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Execute the workflow with input 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await using Run run = await InProcessExecution.RunAsync(workflow, "Hello, World!");</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foreach (WorkflowEvent evt in run.NewEvents)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if (evt is ExecutorCompletedEvent executorComplete)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Console.WriteLine($"{executorComplete.ExecutorId}: {executorComplete.Data}");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Second executor: reverses the input text and completes the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internal sealed class ReverseTextExecutor() : Executor&lt;string, string&gt;("ReverseTextExecutor")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Processes the input message by reversing the text.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name="message"&gt;The input text to reverse&lt;/param&gt;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name="context"&gt;Workflow context for accessing workflow services and adding events&lt;/param&gt;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name="cancellationToken"&gt;The &lt;see cref="CancellationToken"/&gt; to monitor for cancellation requests.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default is &lt;see cref="CancellationToken.None"/&gt;.&lt;/param&gt;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&lt;returns&gt;The input text reversed&lt;/returns&gt;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override ValueTask&lt;string&gt; HandleAsync(string message, IWorkflowContext context, CancellationToken cancellationToken = default)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Because we do not suppress it, the returned result will be yielded as an output from this 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return ValueTask.FromResult(string.Concat(message.Reverse()));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p:txBody>
      </p:sp>
      <p:sp>
        <p:nvSpPr>
          <p:cNvPr id="238" name="Google Shape;238;g3b8df0275c8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https://github.com/microsoft/agent-framework/blob/main/dotnet/samples/GettingStarted/Workflows/_Foundational/01_ExecutorsAndEdges/Program.cs</a:t>
            </a:r>
            <a:endParaRPr/>
          </a:p>
        </p:txBody>
      </p:sp>
      <p:sp>
        <p:nvSpPr>
          <p:cNvPr id="245" name="Google Shape;24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8df0275c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b8df0275c8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https://github.com/microsoft/agent-framework/blob/main/dotnet/samples/GettingStarted/Workflows/_Foundational/01_ExecutorsAndEdges/Program.cs</a:t>
            </a:r>
            <a:endParaRPr/>
          </a:p>
        </p:txBody>
      </p:sp>
      <p:sp>
        <p:nvSpPr>
          <p:cNvPr id="252" name="Google Shape;252;g3b8df0275c8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8df0275c8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b8df0275c8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https://github.com/microsoft/agent-framework/blob/main/dotnet/samples/GettingStarted/Workflows/_Foundational/01_ExecutorsAndEdges/Program.cs</a:t>
            </a:r>
            <a:endParaRPr/>
          </a:p>
        </p:txBody>
      </p:sp>
      <p:sp>
        <p:nvSpPr>
          <p:cNvPr id="259" name="Google Shape;259;g3b8df0275c8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8df0275c8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b8df0275c8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https://github.com/microsoft/agent-framework/blob/main/dotnet/samples/GettingStarted/Workflows/_Foundational/01_ExecutorsAndEdges/Program.cs</a:t>
            </a:r>
            <a:endParaRPr/>
          </a:p>
        </p:txBody>
      </p:sp>
      <p:sp>
        <p:nvSpPr>
          <p:cNvPr id="266" name="Google Shape;266;g3b8df0275c8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8df0275c8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b8df0275c8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8df0275c8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b8df0275c8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b8df0275c8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8df0275c8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3b8df0275c8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CA" sz="1200">
                <a:solidFill>
                  <a:schemeClr val="dk1"/>
                </a:solidFill>
                <a:latin typeface="Arial"/>
                <a:ea typeface="Arial"/>
                <a:cs typeface="Arial"/>
                <a:sym typeface="Arial"/>
              </a:rPr>
              <a:t>using Microsoft.Agents.AI.Workflows;</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namespace WorkflowExecutorsAndEdgesSample;</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This sample introduces the concepts of executors and edges in a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Workflows are built from executors (processing units) connected by edges (data flow paths).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In this example, we create a simple text processing pipeline that: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1. Takes input text and converts it to uppercase using an UppercaseExecutor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2. Takes the uppercase text and reverses it using a ReverseTextExecutor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executors are connected sequentially, so data flows from one to the next in order.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For input "Hello, World!", the workflow produces "!DLROW ,OLLEH".</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static class Program</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private static async Task Main()</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Create the executors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Func&lt;string, string&gt; uppercaseFunc = s =&gt; s.ToUpperInvariant();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uppercase = uppercaseFunc.BindAsExecutor("UppercaseExecutor");</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ReverseTextExecutor reverse = new();</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Build the workflow by connecting executors sequentially</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WorkflowBuilder builder = new(uppercase);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builder.AddEdge(uppercase, reverse).WithOutputFrom(reverse);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workflow = builder.Build();</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Execute the workflow with input 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await using Run run = await InProcessExecution.RunAsync(workflow, "Hello, World!");</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foreach (WorkflowEvent evt in run.NewEvents)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if (evt is ExecutorCompletedEvent executorComplete)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Console.WriteLine($"{executorComplete.ExecutorId}: {executorComplete.Data}");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Second executor: reverses the input text and completes the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internal sealed class ReverseTextExecutor() : Executor&lt;string, string&gt;("ReverseTextExecutor")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Processes the input message by reversing the text.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name="message"&gt;The input text to reverse&lt;/param&gt;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name="context"&gt;Workflow context for accessing workflow services and adding events&lt;/param&gt;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name="cancellationToken"&gt;The &lt;see cref="CancellationToken"/&gt; to monitor for cancellation requests.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default is &lt;see cref="CancellationToken.None"/&gt;.&lt;/param&gt;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&lt;returns&gt;The input text reversed&lt;/returns&gt;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override ValueTask&lt;string&gt; HandleAsync(string message, IWorkflowContext context, CancellationToken cancellationToken = default)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Because we do not suppress it, the returned result will be yielded as an output from this 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return ValueTask.FromResult(string.Concat(message.Reverse()));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p:txBody>
      </p:sp>
      <p:sp>
        <p:nvSpPr>
          <p:cNvPr id="286" name="Google Shape;286;g3b8df0275c8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8df0275c8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b8df0275c8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CA" sz="1200">
                <a:solidFill>
                  <a:schemeClr val="dk1"/>
                </a:solidFill>
                <a:latin typeface="Arial"/>
                <a:ea typeface="Arial"/>
                <a:cs typeface="Arial"/>
                <a:sym typeface="Arial"/>
              </a:rPr>
              <a:t>using Microsoft.Agents.AI.Workflows;</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namespace WorkflowExecutorsAndEdgesSample;</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This sample introduces the concepts of executors and edges in a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Workflows are built from executors (processing units) connected by edges (data flow paths).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In this example, we create a simple text processing pipeline that: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1. Takes input text and converts it to uppercase using an UppercaseExecutor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2. Takes the uppercase text and reverses it using a ReverseTextExecutor</a:t>
            </a: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executors are connected sequentially, so data flows from one to the next in order.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For input "Hello, World!", the workflow produces "!DLROW ,OLLEH".</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static class Program</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private static async Task Main()</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Create the executors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Func&lt;string, string&gt; uppercaseFunc = s =&gt; s.ToUpperInvariant();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uppercase = uppercaseFunc.BindAsExecutor("UppercaseExecutor");</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ReverseTextExecutor reverse = new();</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Build the workflow by connecting executors sequentially</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WorkflowBuilder builder = new(uppercase);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builder.AddEdge(uppercase, reverse).WithOutputFrom(reverse);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var workflow = builder.Build();</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Execute the workflow with input 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await using Run run = await InProcessExecution.RunAsync(workflow, "Hello, World!");</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foreach (WorkflowEvent evt in run.NewEvents)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if (evt is ExecutorCompletedEvent executorComplete)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Console.WriteLine($"{executorComplete.ExecutorId}: {executorComplete.Data}");</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br>
              <a:rPr b="0" lang="en-CA"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Second executor: reverses the input text and completes the workflow.</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internal sealed class ReverseTextExecutor() : Executor&lt;string, string&gt;("ReverseTextExecutor")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Processes the input message by reversing the text.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&lt;/summary&gt;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name="message"&gt;The input text to reverse&lt;/param&gt;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name="context"&gt;Workflow context for accessing workflow services and adding events&lt;/param&gt;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&lt;param name="cancellationToken"&gt;The &lt;see cref="CancellationToken"/&gt; to monitor for cancellation requests.</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The default is &lt;see cref="CancellationToken.None"/&gt;.&lt;/param&gt;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&lt;returns&gt;The input text reversed&lt;/returns&gt;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public override ValueTask&lt;string&gt; HandleAsync(string message, IWorkflowContext context, CancellationToken cancellationToken = default)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 Because we do not suppress it, the returned result will be yielded as an output from this executor.</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return ValueTask.FromResult(string.Concat(message.Reverse()));</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a:p>
            <a:pPr indent="0" lvl="0" marL="0" rtl="0" algn="l">
              <a:spcBef>
                <a:spcPts val="0"/>
              </a:spcBef>
              <a:spcAft>
                <a:spcPts val="0"/>
              </a:spcAft>
              <a:buNone/>
            </a:pPr>
            <a:r>
              <a:rPr b="0" lang="en-CA" sz="1200">
                <a:solidFill>
                  <a:schemeClr val="dk1"/>
                </a:solidFill>
                <a:latin typeface="Arial"/>
                <a:ea typeface="Arial"/>
                <a:cs typeface="Arial"/>
                <a:sym typeface="Arial"/>
              </a:rPr>
              <a:t>}</a:t>
            </a:r>
            <a:endParaRPr/>
          </a:p>
        </p:txBody>
      </p:sp>
      <p:sp>
        <p:nvSpPr>
          <p:cNvPr id="293" name="Google Shape;293;g3b8df0275c8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 name="Shape 26"/>
        <p:cNvGrpSpPr/>
        <p:nvPr/>
      </p:nvGrpSpPr>
      <p:grpSpPr>
        <a:xfrm>
          <a:off x="0" y="0"/>
          <a:ext cx="0" cy="0"/>
          <a:chOff x="0" y="0"/>
          <a:chExt cx="0" cy="0"/>
        </a:xfrm>
      </p:grpSpPr>
      <p:sp>
        <p:nvSpPr>
          <p:cNvPr id="27" name="Google Shape;27;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 name="Google Shape;29;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 name="Google Shape;31;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3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8" name="Google Shape;4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p:nvPr>
            <p:ph idx="2" type="pic"/>
          </p:nvPr>
        </p:nvSpPr>
        <p:spPr>
          <a:xfrm>
            <a:off x="5183188" y="987425"/>
            <a:ext cx="6172200" cy="4873625"/>
          </a:xfrm>
          <a:prstGeom prst="rect">
            <a:avLst/>
          </a:prstGeom>
          <a:noFill/>
          <a:ln>
            <a:noFill/>
          </a:ln>
        </p:spPr>
      </p:sp>
      <p:sp>
        <p:nvSpPr>
          <p:cNvPr id="68" name="Google Shape;68;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s://github.com/microsoft/agent-framework" TargetMode="External"/><Relationship Id="rId5" Type="http://schemas.openxmlformats.org/officeDocument/2006/relationships/hyperlink" Target="https://github.com/microsoft/agent-framework" TargetMode="External"/><Relationship Id="rId6" Type="http://schemas.openxmlformats.org/officeDocument/2006/relationships/hyperlink" Target="https://github.com/microsoft/semantic-kernel" TargetMode="External"/><Relationship Id="rId7" Type="http://schemas.openxmlformats.org/officeDocument/2006/relationships/hyperlink" Target="https://github.com/microsoft/autoge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33121"/>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CA"/>
              <a:t>Microsoft Agent Framework Workshop</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1578043" y="590062"/>
            <a:ext cx="9597618" cy="185740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Play"/>
              <a:buNone/>
            </a:pPr>
            <a:r>
              <a:rPr lang="en-CA" sz="6000">
                <a:latin typeface="Play"/>
                <a:ea typeface="Play"/>
                <a:cs typeface="Play"/>
                <a:sym typeface="Play"/>
              </a:rPr>
              <a:t>What is Microsoft Agent Framework?</a:t>
            </a:r>
            <a:endParaRPr sz="4800"/>
          </a:p>
        </p:txBody>
      </p:sp>
      <p:pic>
        <p:nvPicPr>
          <p:cNvPr id="95" name="Google Shape;95;p2"/>
          <p:cNvPicPr preferRelativeResize="0"/>
          <p:nvPr/>
        </p:nvPicPr>
        <p:blipFill rotWithShape="1">
          <a:blip r:embed="rId3">
            <a:alphaModFix/>
          </a:blip>
          <a:srcRect b="0" l="0" r="0" t="0"/>
          <a:stretch/>
        </p:blipFill>
        <p:spPr>
          <a:xfrm>
            <a:off x="8152291" y="920555"/>
            <a:ext cx="4039709" cy="4039709"/>
          </a:xfrm>
          <a:prstGeom prst="rect">
            <a:avLst/>
          </a:prstGeom>
          <a:noFill/>
          <a:ln>
            <a:noFill/>
          </a:ln>
        </p:spPr>
      </p:pic>
      <p:sp>
        <p:nvSpPr>
          <p:cNvPr id="96" name="Google Shape;96;p2"/>
          <p:cNvSpPr txBox="1"/>
          <p:nvPr/>
        </p:nvSpPr>
        <p:spPr>
          <a:xfrm>
            <a:off x="1923389" y="5855821"/>
            <a:ext cx="970612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3200" u="sng" cap="none" strike="noStrike">
                <a:solidFill>
                  <a:srgbClr val="3A7D22"/>
                </a:solidFill>
                <a:latin typeface="Arial"/>
                <a:ea typeface="Arial"/>
                <a:cs typeface="Arial"/>
                <a:sym typeface="Arial"/>
                <a:hlinkClick r:id="rId4">
                  <a:extLst>
                    <a:ext uri="{A12FA001-AC4F-418D-AE19-62706E023703}">
                      <ahyp:hlinkClr val="tx"/>
                    </a:ext>
                  </a:extLst>
                </a:hlinkClick>
              </a:rPr>
              <a:t>https://github.com/microsoft/agent-framework</a:t>
            </a:r>
            <a:r>
              <a:rPr b="0" i="0" lang="en-CA" sz="3200" u="none" cap="none" strike="noStrike">
                <a:solidFill>
                  <a:srgbClr val="3A7D22"/>
                </a:solidFill>
                <a:latin typeface="Arial"/>
                <a:ea typeface="Arial"/>
                <a:cs typeface="Arial"/>
                <a:sym typeface="Arial"/>
              </a:rPr>
              <a:t> </a:t>
            </a:r>
            <a:endParaRPr/>
          </a:p>
        </p:txBody>
      </p:sp>
      <p:sp>
        <p:nvSpPr>
          <p:cNvPr id="97" name="Google Shape;97;p2"/>
          <p:cNvSpPr txBox="1"/>
          <p:nvPr/>
        </p:nvSpPr>
        <p:spPr>
          <a:xfrm>
            <a:off x="1856000" y="2685275"/>
            <a:ext cx="6621000" cy="24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1"/>
                </a:solidFill>
                <a:highlight>
                  <a:schemeClr val="lt1"/>
                </a:highlight>
                <a:uFill>
                  <a:noFill/>
                </a:uFill>
                <a:hlinkClick r:id="rId5">
                  <a:extLst>
                    <a:ext uri="{A12FA001-AC4F-418D-AE19-62706E023703}">
                      <ahyp:hlinkClr val="tx"/>
                    </a:ext>
                  </a:extLst>
                </a:hlinkClick>
              </a:rPr>
              <a:t>Microsoft Agent Framework</a:t>
            </a:r>
            <a:r>
              <a:rPr lang="en-CA" sz="1900">
                <a:solidFill>
                  <a:schemeClr val="dk1"/>
                </a:solidFill>
                <a:highlight>
                  <a:schemeClr val="lt1"/>
                </a:highlight>
              </a:rPr>
              <a:t> is an open-source development kit for building AI agents and multi-agent workflows for .NET and Python. It brings together and extends ideas from </a:t>
            </a:r>
            <a:r>
              <a:rPr lang="en-CA" sz="1900">
                <a:solidFill>
                  <a:schemeClr val="dk1"/>
                </a:solidFill>
                <a:highlight>
                  <a:schemeClr val="lt1"/>
                </a:highlight>
                <a:uFill>
                  <a:noFill/>
                </a:uFill>
                <a:hlinkClick r:id="rId6">
                  <a:extLst>
                    <a:ext uri="{A12FA001-AC4F-418D-AE19-62706E023703}">
                      <ahyp:hlinkClr val="tx"/>
                    </a:ext>
                  </a:extLst>
                </a:hlinkClick>
              </a:rPr>
              <a:t>Semantic Kernel</a:t>
            </a:r>
            <a:r>
              <a:rPr lang="en-CA" sz="1900">
                <a:solidFill>
                  <a:schemeClr val="dk1"/>
                </a:solidFill>
                <a:highlight>
                  <a:schemeClr val="lt1"/>
                </a:highlight>
              </a:rPr>
              <a:t> and </a:t>
            </a:r>
            <a:r>
              <a:rPr lang="en-CA" sz="1900">
                <a:solidFill>
                  <a:schemeClr val="dk1"/>
                </a:solidFill>
                <a:highlight>
                  <a:schemeClr val="lt1"/>
                </a:highlight>
                <a:uFill>
                  <a:noFill/>
                </a:uFill>
                <a:hlinkClick r:id="rId7">
                  <a:extLst>
                    <a:ext uri="{A12FA001-AC4F-418D-AE19-62706E023703}">
                      <ahyp:hlinkClr val="tx"/>
                    </a:ext>
                  </a:extLst>
                </a:hlinkClick>
              </a:rPr>
              <a:t>AutoGen</a:t>
            </a:r>
            <a:r>
              <a:rPr lang="en-CA" sz="1900">
                <a:solidFill>
                  <a:schemeClr val="dk1"/>
                </a:solidFill>
                <a:highlight>
                  <a:schemeClr val="lt1"/>
                </a:highlight>
              </a:rPr>
              <a:t> projects, combining their strengths while adding new capabilities. Built by the same teams, it is the unified foundation for building AI agents going forward.</a:t>
            </a:r>
            <a:endParaRPr sz="3500">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CA"/>
              <a:t>Sematic Kernel</a:t>
            </a:r>
            <a:endParaRPr/>
          </a:p>
        </p:txBody>
      </p:sp>
      <p:sp>
        <p:nvSpPr>
          <p:cNvPr id="103" name="Google Shape;103;p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Open-source SDK from Microsoft for building Al-powered applications</a:t>
            </a:r>
            <a:endParaRPr/>
          </a:p>
          <a:p>
            <a:pPr indent="-228600" lvl="0" marL="228600" rtl="0" algn="l">
              <a:lnSpc>
                <a:spcPct val="90000"/>
              </a:lnSpc>
              <a:spcBef>
                <a:spcPts val="1000"/>
              </a:spcBef>
              <a:spcAft>
                <a:spcPts val="0"/>
              </a:spcAft>
              <a:buClr>
                <a:schemeClr val="dk1"/>
              </a:buClr>
              <a:buSzPts val="2800"/>
              <a:buChar char="•"/>
            </a:pPr>
            <a:r>
              <a:rPr lang="en-CA"/>
              <a:t>﻿﻿It helps developers embed reasoning and natural-language capabilities into apps "AI as a function call"</a:t>
            </a:r>
            <a:endParaRPr/>
          </a:p>
        </p:txBody>
      </p:sp>
      <p:sp>
        <p:nvSpPr>
          <p:cNvPr id="104" name="Google Shape;104;p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CA"/>
              <a:t>AutoGen</a:t>
            </a:r>
            <a:endParaRPr/>
          </a:p>
        </p:txBody>
      </p:sp>
      <p:sp>
        <p:nvSpPr>
          <p:cNvPr id="105" name="Google Shape;105;p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Open-source framework from</a:t>
            </a:r>
            <a:endParaRPr/>
          </a:p>
          <a:p>
            <a:pPr indent="-228600" lvl="0" marL="228600" rtl="0" algn="l">
              <a:lnSpc>
                <a:spcPct val="90000"/>
              </a:lnSpc>
              <a:spcBef>
                <a:spcPts val="1000"/>
              </a:spcBef>
              <a:spcAft>
                <a:spcPts val="0"/>
              </a:spcAft>
              <a:buClr>
                <a:schemeClr val="dk1"/>
              </a:buClr>
              <a:buSzPts val="2800"/>
              <a:buChar char="•"/>
            </a:pPr>
            <a:r>
              <a:rPr lang="en-CA"/>
              <a:t>Microsoft Research for building multi-agent systems ie. multiple LLM agents talking to each other and collaborating to solve problems.</a:t>
            </a:r>
            <a:endParaRPr/>
          </a:p>
        </p:txBody>
      </p:sp>
      <p:pic>
        <p:nvPicPr>
          <p:cNvPr id="106" name="Google Shape;106;p3"/>
          <p:cNvPicPr preferRelativeResize="0"/>
          <p:nvPr/>
        </p:nvPicPr>
        <p:blipFill rotWithShape="1">
          <a:blip r:embed="rId3">
            <a:alphaModFix/>
          </a:blip>
          <a:srcRect b="0" l="0" r="0" t="0"/>
          <a:stretch/>
        </p:blipFill>
        <p:spPr>
          <a:xfrm>
            <a:off x="1278591" y="213519"/>
            <a:ext cx="1943100" cy="1879600"/>
          </a:xfrm>
          <a:prstGeom prst="rect">
            <a:avLst/>
          </a:prstGeom>
          <a:noFill/>
          <a:ln>
            <a:noFill/>
          </a:ln>
        </p:spPr>
      </p:pic>
      <p:pic>
        <p:nvPicPr>
          <p:cNvPr id="107" name="Google Shape;107;p3"/>
          <p:cNvPicPr preferRelativeResize="0"/>
          <p:nvPr/>
        </p:nvPicPr>
        <p:blipFill rotWithShape="1">
          <a:blip r:embed="rId4">
            <a:alphaModFix/>
          </a:blip>
          <a:srcRect b="0" l="0" r="0" t="0"/>
          <a:stretch/>
        </p:blipFill>
        <p:spPr>
          <a:xfrm>
            <a:off x="8059646" y="668337"/>
            <a:ext cx="1165036" cy="1145290"/>
          </a:xfrm>
          <a:prstGeom prst="rect">
            <a:avLst/>
          </a:prstGeom>
          <a:noFill/>
          <a:ln>
            <a:noFill/>
          </a:ln>
        </p:spPr>
      </p:pic>
      <p:pic>
        <p:nvPicPr>
          <p:cNvPr id="108" name="Google Shape;108;p3"/>
          <p:cNvPicPr preferRelativeResize="0"/>
          <p:nvPr/>
        </p:nvPicPr>
        <p:blipFill rotWithShape="1">
          <a:blip r:embed="rId5">
            <a:alphaModFix/>
          </a:blip>
          <a:srcRect b="0" l="0" r="0" t="0"/>
          <a:stretch/>
        </p:blipFill>
        <p:spPr>
          <a:xfrm>
            <a:off x="4632511" y="525722"/>
            <a:ext cx="1642035" cy="15673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sz="4700"/>
              <a:t>Microsoft Agent Framework</a:t>
            </a:r>
            <a:endParaRPr sz="4700"/>
          </a:p>
        </p:txBody>
      </p:sp>
      <p:sp>
        <p:nvSpPr>
          <p:cNvPr id="114" name="Google Shape;114;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Open-source SDK and runtime from Microsoft for building, orchestrating and deploying Al agents and multi-agent workflows</a:t>
            </a:r>
            <a:endParaRPr/>
          </a:p>
          <a:p>
            <a:pPr indent="-228600" lvl="0" marL="228600" rtl="0" algn="l">
              <a:lnSpc>
                <a:spcPct val="90000"/>
              </a:lnSpc>
              <a:spcBef>
                <a:spcPts val="1000"/>
              </a:spcBef>
              <a:spcAft>
                <a:spcPts val="0"/>
              </a:spcAft>
              <a:buClr>
                <a:schemeClr val="dk1"/>
              </a:buClr>
              <a:buSzPts val="2800"/>
              <a:buChar char="•"/>
            </a:pPr>
            <a:r>
              <a:rPr lang="en-CA"/>
              <a:t>﻿﻿Supports both .NET (C#) and Python</a:t>
            </a:r>
            <a:endParaRPr/>
          </a:p>
          <a:p>
            <a:pPr indent="-228600" lvl="0" marL="228600" rtl="0" algn="l">
              <a:lnSpc>
                <a:spcPct val="90000"/>
              </a:lnSpc>
              <a:spcBef>
                <a:spcPts val="1000"/>
              </a:spcBef>
              <a:spcAft>
                <a:spcPts val="0"/>
              </a:spcAft>
              <a:buClr>
                <a:schemeClr val="dk1"/>
              </a:buClr>
              <a:buSzPts val="2800"/>
              <a:buChar char="•"/>
            </a:pPr>
            <a:r>
              <a:rPr lang="en-CA"/>
              <a:t>﻿﻿Unifies </a:t>
            </a:r>
            <a:r>
              <a:rPr i="1" lang="en-CA"/>
              <a:t>Semantic Kernel </a:t>
            </a:r>
            <a:r>
              <a:rPr lang="en-CA"/>
              <a:t>and </a:t>
            </a:r>
            <a:r>
              <a:rPr i="1" lang="en-CA"/>
              <a:t>AutoGen</a:t>
            </a:r>
            <a:r>
              <a:rPr lang="en-CA"/>
              <a:t> into a single framework</a:t>
            </a:r>
            <a:endParaRPr/>
          </a:p>
          <a:p>
            <a:pPr indent="0" lvl="0" marL="0" rtl="0" algn="l">
              <a:lnSpc>
                <a:spcPct val="90000"/>
              </a:lnSpc>
              <a:spcBef>
                <a:spcPts val="1000"/>
              </a:spcBef>
              <a:spcAft>
                <a:spcPts val="0"/>
              </a:spcAft>
              <a:buClr>
                <a:schemeClr val="dk1"/>
              </a:buClr>
              <a:buSzPts val="2800"/>
              <a:buNone/>
            </a:pPr>
            <a:r>
              <a:t/>
            </a:r>
            <a:endParaRPr/>
          </a:p>
        </p:txBody>
      </p:sp>
      <p:pic>
        <p:nvPicPr>
          <p:cNvPr id="115" name="Google Shape;115;p4"/>
          <p:cNvPicPr preferRelativeResize="0"/>
          <p:nvPr/>
        </p:nvPicPr>
        <p:blipFill rotWithShape="1">
          <a:blip r:embed="rId3">
            <a:alphaModFix/>
          </a:blip>
          <a:srcRect b="0" l="0" r="0" t="0"/>
          <a:stretch/>
        </p:blipFill>
        <p:spPr>
          <a:xfrm>
            <a:off x="8526556" y="496000"/>
            <a:ext cx="1020856" cy="9981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5"/>
          <p:cNvPicPr preferRelativeResize="0"/>
          <p:nvPr/>
        </p:nvPicPr>
        <p:blipFill rotWithShape="1">
          <a:blip r:embed="rId3">
            <a:alphaModFix/>
          </a:blip>
          <a:srcRect b="0" l="0" r="0" t="0"/>
          <a:stretch/>
        </p:blipFill>
        <p:spPr>
          <a:xfrm>
            <a:off x="376270" y="306549"/>
            <a:ext cx="10046922" cy="5952735"/>
          </a:xfrm>
          <a:prstGeom prst="rect">
            <a:avLst/>
          </a:prstGeom>
          <a:noFill/>
          <a:ln>
            <a:noFill/>
          </a:ln>
        </p:spPr>
      </p:pic>
      <p:sp>
        <p:nvSpPr>
          <p:cNvPr id="121" name="Google Shape;121;p5"/>
          <p:cNvSpPr txBox="1"/>
          <p:nvPr/>
        </p:nvSpPr>
        <p:spPr>
          <a:xfrm rot="-2744922">
            <a:off x="3782973" y="4900293"/>
            <a:ext cx="17746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a:solidFill>
                  <a:srgbClr val="FF0000"/>
                </a:solidFill>
                <a:latin typeface="Arial"/>
                <a:ea typeface="Arial"/>
                <a:cs typeface="Arial"/>
                <a:sym typeface="Arial"/>
              </a:rPr>
              <a:t>ReAct: Reason + Act</a:t>
            </a:r>
            <a:endParaRPr/>
          </a:p>
        </p:txBody>
      </p:sp>
      <p:sp>
        <p:nvSpPr>
          <p:cNvPr id="122" name="Google Shape;122;p5"/>
          <p:cNvSpPr txBox="1"/>
          <p:nvPr/>
        </p:nvSpPr>
        <p:spPr>
          <a:xfrm rot="-2744922">
            <a:off x="3362025" y="2753092"/>
            <a:ext cx="115773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a:solidFill>
                  <a:srgbClr val="FF0000"/>
                </a:solidFill>
                <a:latin typeface="Arial"/>
                <a:ea typeface="Arial"/>
                <a:cs typeface="Arial"/>
                <a:sym typeface="Arial"/>
              </a:rPr>
              <a:t>Reasoning</a:t>
            </a:r>
            <a:endParaRPr/>
          </a:p>
        </p:txBody>
      </p:sp>
      <p:sp>
        <p:nvSpPr>
          <p:cNvPr id="123" name="Google Shape;123;p5"/>
          <p:cNvSpPr txBox="1"/>
          <p:nvPr/>
        </p:nvSpPr>
        <p:spPr>
          <a:xfrm>
            <a:off x="6486225" y="1936664"/>
            <a:ext cx="665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a:solidFill>
                  <a:srgbClr val="FF0000"/>
                </a:solidFill>
                <a:latin typeface="Arial"/>
                <a:ea typeface="Arial"/>
                <a:cs typeface="Arial"/>
                <a:sym typeface="Arial"/>
              </a:rPr>
              <a:t>Act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7"/>
          <p:cNvPicPr preferRelativeResize="0"/>
          <p:nvPr/>
        </p:nvPicPr>
        <p:blipFill rotWithShape="1">
          <a:blip r:embed="rId3">
            <a:alphaModFix/>
          </a:blip>
          <a:srcRect b="0" l="0" r="0" t="0"/>
          <a:stretch/>
        </p:blipFill>
        <p:spPr>
          <a:xfrm>
            <a:off x="2330450" y="2533650"/>
            <a:ext cx="7531100" cy="1790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Why Build Agents in Code?</a:t>
            </a:r>
            <a:endParaRPr/>
          </a:p>
        </p:txBody>
      </p:sp>
      <p:grpSp>
        <p:nvGrpSpPr>
          <p:cNvPr id="135" name="Google Shape;135;p8"/>
          <p:cNvGrpSpPr/>
          <p:nvPr/>
        </p:nvGrpSpPr>
        <p:grpSpPr>
          <a:xfrm>
            <a:off x="704538" y="1688667"/>
            <a:ext cx="10515600" cy="4804207"/>
            <a:chOff x="0" y="0"/>
            <a:chExt cx="10515600" cy="4804207"/>
          </a:xfrm>
        </p:grpSpPr>
        <p:sp>
          <p:nvSpPr>
            <p:cNvPr id="136" name="Google Shape;136;p8"/>
            <p:cNvSpPr/>
            <p:nvPr/>
          </p:nvSpPr>
          <p:spPr>
            <a:xfrm>
              <a:off x="0" y="0"/>
              <a:ext cx="10515600" cy="2161893"/>
            </a:xfrm>
            <a:prstGeom prst="roundRect">
              <a:avLst>
                <a:gd fmla="val 10000" name="adj"/>
              </a:avLst>
            </a:prstGeom>
            <a:solidFill>
              <a:srgbClr val="CAD1D8">
                <a:alpha val="89803"/>
              </a:srgbClr>
            </a:solidFill>
            <a:ln cap="flat" cmpd="sng" w="19050">
              <a:solidFill>
                <a:srgbClr val="CAD1D8">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315468" y="288252"/>
              <a:ext cx="3088957" cy="1585388"/>
            </a:xfrm>
            <a:prstGeom prst="roundRect">
              <a:avLst>
                <a:gd fmla="val 10000" name="adj"/>
              </a:avLst>
            </a:prstGeom>
            <a:blipFill rotWithShape="1">
              <a:blip r:embed="rId3">
                <a:alphaModFix/>
              </a:blip>
              <a:stretch>
                <a:fillRect b="-16998" l="0" r="0" t="-16997"/>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rot="10800000">
              <a:off x="315468" y="2161893"/>
              <a:ext cx="3088957" cy="2642314"/>
            </a:xfrm>
            <a:prstGeom prst="round2SameRect">
              <a:avLst>
                <a:gd fmla="val 10500" name="adj1"/>
                <a:gd fmla="val 0" name="adj2"/>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txBox="1"/>
            <p:nvPr/>
          </p:nvSpPr>
          <p:spPr>
            <a:xfrm>
              <a:off x="396728" y="2161893"/>
              <a:ext cx="2926437" cy="2561054"/>
            </a:xfrm>
            <a:prstGeom prst="rect">
              <a:avLst/>
            </a:prstGeom>
            <a:noFill/>
            <a:ln>
              <a:noFill/>
            </a:ln>
          </p:spPr>
          <p:txBody>
            <a:bodyPr anchorCtr="0" anchor="t" bIns="120900" lIns="120900" spcFirstLastPara="1" rIns="120900" wrap="square" tIns="120900">
              <a:noAutofit/>
            </a:bodyPr>
            <a:lstStyle/>
            <a:p>
              <a:pPr indent="0" lvl="0" marL="0" marR="0" rtl="0" algn="ctr">
                <a:lnSpc>
                  <a:spcPct val="90000"/>
                </a:lnSpc>
                <a:spcBef>
                  <a:spcPts val="0"/>
                </a:spcBef>
                <a:spcAft>
                  <a:spcPts val="0"/>
                </a:spcAft>
                <a:buClr>
                  <a:schemeClr val="lt1"/>
                </a:buClr>
                <a:buSzPts val="1700"/>
                <a:buFont typeface="Arial"/>
                <a:buNone/>
              </a:pPr>
              <a:r>
                <a:rPr b="1" lang="en-CA" sz="1700">
                  <a:solidFill>
                    <a:schemeClr val="lt1"/>
                  </a:solidFill>
                  <a:latin typeface="Arial"/>
                  <a:ea typeface="Arial"/>
                  <a:cs typeface="Arial"/>
                  <a:sym typeface="Arial"/>
                </a:rPr>
                <a:t>Full Control &amp; Customization</a:t>
              </a:r>
              <a:br>
                <a:rPr b="1" lang="en-CA" sz="1700">
                  <a:solidFill>
                    <a:schemeClr val="lt1"/>
                  </a:solidFill>
                  <a:latin typeface="Arial"/>
                  <a:ea typeface="Arial"/>
                  <a:cs typeface="Arial"/>
                  <a:sym typeface="Arial"/>
                </a:rPr>
              </a:br>
              <a:endParaRPr b="1" sz="1700">
                <a:solidFill>
                  <a:schemeClr val="lt1"/>
                </a:solidFill>
                <a:latin typeface="Arial"/>
                <a:ea typeface="Arial"/>
                <a:cs typeface="Arial"/>
                <a:sym typeface="Arial"/>
              </a:endParaRPr>
            </a:p>
            <a:p>
              <a:pPr indent="0" lvl="0" marL="0" marR="0" rtl="0" algn="ctr">
                <a:lnSpc>
                  <a:spcPct val="90000"/>
                </a:lnSpc>
                <a:spcBef>
                  <a:spcPts val="595"/>
                </a:spcBef>
                <a:spcAft>
                  <a:spcPts val="0"/>
                </a:spcAft>
                <a:buClr>
                  <a:schemeClr val="lt1"/>
                </a:buClr>
                <a:buSzPts val="1700"/>
                <a:buFont typeface="Arial"/>
                <a:buNone/>
              </a:pPr>
              <a:r>
                <a:rPr lang="en-CA" sz="1700">
                  <a:solidFill>
                    <a:schemeClr val="lt1"/>
                  </a:solidFill>
                  <a:latin typeface="Arial"/>
                  <a:ea typeface="Arial"/>
                  <a:cs typeface="Arial"/>
                  <a:sym typeface="Arial"/>
                </a:rPr>
                <a:t>Code-first agents can use any model, tool, or data source - not limited to pre-defined connectors or templates</a:t>
              </a:r>
              <a:endParaRPr sz="1700">
                <a:solidFill>
                  <a:schemeClr val="lt1"/>
                </a:solidFill>
                <a:latin typeface="Arial"/>
                <a:ea typeface="Arial"/>
                <a:cs typeface="Arial"/>
                <a:sym typeface="Arial"/>
              </a:endParaRPr>
            </a:p>
          </p:txBody>
        </p:sp>
        <p:sp>
          <p:nvSpPr>
            <p:cNvPr id="140" name="Google Shape;140;p8"/>
            <p:cNvSpPr/>
            <p:nvPr/>
          </p:nvSpPr>
          <p:spPr>
            <a:xfrm>
              <a:off x="3713321" y="288252"/>
              <a:ext cx="3088957" cy="1585388"/>
            </a:xfrm>
            <a:prstGeom prst="roundRect">
              <a:avLst>
                <a:gd fmla="val 10000" name="adj"/>
              </a:avLst>
            </a:prstGeom>
            <a:blipFill rotWithShape="1">
              <a:blip r:embed="rId4">
                <a:alphaModFix/>
              </a:blip>
              <a:stretch>
                <a:fillRect b="-46994" l="0" r="0" t="-46996"/>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rot="10800000">
              <a:off x="3713321" y="2161893"/>
              <a:ext cx="3088957" cy="2642314"/>
            </a:xfrm>
            <a:prstGeom prst="round2SameRect">
              <a:avLst>
                <a:gd fmla="val 10500" name="adj1"/>
                <a:gd fmla="val 0" name="adj2"/>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txBox="1"/>
            <p:nvPr/>
          </p:nvSpPr>
          <p:spPr>
            <a:xfrm>
              <a:off x="3794581" y="2161893"/>
              <a:ext cx="2926437" cy="2561054"/>
            </a:xfrm>
            <a:prstGeom prst="rect">
              <a:avLst/>
            </a:prstGeom>
            <a:noFill/>
            <a:ln>
              <a:noFill/>
            </a:ln>
          </p:spPr>
          <p:txBody>
            <a:bodyPr anchorCtr="0" anchor="t" bIns="120900" lIns="120900" spcFirstLastPara="1" rIns="120900" wrap="square" tIns="120900">
              <a:noAutofit/>
            </a:bodyPr>
            <a:lstStyle/>
            <a:p>
              <a:pPr indent="0" lvl="0" marL="0" marR="0" rtl="0" algn="ctr">
                <a:lnSpc>
                  <a:spcPct val="90000"/>
                </a:lnSpc>
                <a:spcBef>
                  <a:spcPts val="0"/>
                </a:spcBef>
                <a:spcAft>
                  <a:spcPts val="0"/>
                </a:spcAft>
                <a:buClr>
                  <a:schemeClr val="lt1"/>
                </a:buClr>
                <a:buSzPts val="1700"/>
                <a:buFont typeface="Arial"/>
                <a:buNone/>
              </a:pPr>
              <a:r>
                <a:rPr b="1" lang="en-CA" sz="1700">
                  <a:solidFill>
                    <a:schemeClr val="lt1"/>
                  </a:solidFill>
                  <a:latin typeface="Arial"/>
                  <a:ea typeface="Arial"/>
                  <a:cs typeface="Arial"/>
                  <a:sym typeface="Arial"/>
                </a:rPr>
                <a:t>Local Experimentation</a:t>
              </a:r>
              <a:br>
                <a:rPr b="1" lang="en-CA" sz="1700">
                  <a:solidFill>
                    <a:schemeClr val="lt1"/>
                  </a:solidFill>
                  <a:latin typeface="Arial"/>
                  <a:ea typeface="Arial"/>
                  <a:cs typeface="Arial"/>
                  <a:sym typeface="Arial"/>
                </a:rPr>
              </a:br>
              <a:endParaRPr sz="1700">
                <a:solidFill>
                  <a:schemeClr val="lt1"/>
                </a:solidFill>
                <a:latin typeface="Arial"/>
                <a:ea typeface="Arial"/>
                <a:cs typeface="Arial"/>
                <a:sym typeface="Arial"/>
              </a:endParaRPr>
            </a:p>
            <a:p>
              <a:pPr indent="0" lvl="0" marL="0" marR="0" rtl="0" algn="ctr">
                <a:lnSpc>
                  <a:spcPct val="90000"/>
                </a:lnSpc>
                <a:spcBef>
                  <a:spcPts val="595"/>
                </a:spcBef>
                <a:spcAft>
                  <a:spcPts val="0"/>
                </a:spcAft>
                <a:buClr>
                  <a:schemeClr val="lt1"/>
                </a:buClr>
                <a:buSzPts val="1700"/>
                <a:buFont typeface="Arial"/>
                <a:buNone/>
              </a:pPr>
              <a:r>
                <a:rPr lang="en-CA" sz="1700">
                  <a:solidFill>
                    <a:schemeClr val="lt1"/>
                  </a:solidFill>
                  <a:latin typeface="Arial"/>
                  <a:ea typeface="Arial"/>
                  <a:cs typeface="Arial"/>
                  <a:sym typeface="Arial"/>
                </a:rPr>
                <a:t>Run agents on your laptop with your preferred IDEs (VS Code, GitHub) with no cloud dependency; debug, test, and integrate into CI/CD pipelines before scaling</a:t>
              </a:r>
              <a:endParaRPr sz="1700">
                <a:solidFill>
                  <a:schemeClr val="lt1"/>
                </a:solidFill>
                <a:latin typeface="Arial"/>
                <a:ea typeface="Arial"/>
                <a:cs typeface="Arial"/>
                <a:sym typeface="Arial"/>
              </a:endParaRPr>
            </a:p>
          </p:txBody>
        </p:sp>
        <p:sp>
          <p:nvSpPr>
            <p:cNvPr id="143" name="Google Shape;143;p8"/>
            <p:cNvSpPr/>
            <p:nvPr/>
          </p:nvSpPr>
          <p:spPr>
            <a:xfrm>
              <a:off x="7111174" y="288252"/>
              <a:ext cx="3088957" cy="1585388"/>
            </a:xfrm>
            <a:prstGeom prst="roundRect">
              <a:avLst>
                <a:gd fmla="val 10000" name="adj"/>
              </a:avLst>
            </a:prstGeom>
            <a:blipFill rotWithShape="1">
              <a:blip r:embed="rId5">
                <a:alphaModFix/>
              </a:blip>
              <a:stretch>
                <a:fillRect b="-21996" l="0" r="0" t="-21996"/>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rot="10800000">
              <a:off x="7111174" y="2161893"/>
              <a:ext cx="3088957" cy="2642314"/>
            </a:xfrm>
            <a:prstGeom prst="round2SameRect">
              <a:avLst>
                <a:gd fmla="val 10500" name="adj1"/>
                <a:gd fmla="val 0" name="adj2"/>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txBox="1"/>
            <p:nvPr/>
          </p:nvSpPr>
          <p:spPr>
            <a:xfrm>
              <a:off x="7192434" y="2161893"/>
              <a:ext cx="2926437" cy="2561054"/>
            </a:xfrm>
            <a:prstGeom prst="rect">
              <a:avLst/>
            </a:prstGeom>
            <a:noFill/>
            <a:ln>
              <a:noFill/>
            </a:ln>
          </p:spPr>
          <p:txBody>
            <a:bodyPr anchorCtr="0" anchor="t" bIns="120900" lIns="120900" spcFirstLastPara="1" rIns="120900" wrap="square" tIns="120900">
              <a:noAutofit/>
            </a:bodyPr>
            <a:lstStyle/>
            <a:p>
              <a:pPr indent="0" lvl="0" marL="0" marR="0" rtl="0" algn="ctr">
                <a:lnSpc>
                  <a:spcPct val="90000"/>
                </a:lnSpc>
                <a:spcBef>
                  <a:spcPts val="0"/>
                </a:spcBef>
                <a:spcAft>
                  <a:spcPts val="0"/>
                </a:spcAft>
                <a:buClr>
                  <a:schemeClr val="lt1"/>
                </a:buClr>
                <a:buSzPts val="1700"/>
                <a:buFont typeface="Arial"/>
                <a:buNone/>
              </a:pPr>
              <a:r>
                <a:rPr b="1" lang="en-CA" sz="1700">
                  <a:solidFill>
                    <a:schemeClr val="lt1"/>
                  </a:solidFill>
                  <a:latin typeface="Arial"/>
                  <a:ea typeface="Arial"/>
                  <a:cs typeface="Arial"/>
                  <a:sym typeface="Arial"/>
                </a:rPr>
                <a:t>Portability</a:t>
              </a:r>
              <a:endParaRPr/>
            </a:p>
            <a:p>
              <a:pPr indent="0" lvl="0" marL="0" marR="0" rtl="0" algn="ctr">
                <a:lnSpc>
                  <a:spcPct val="90000"/>
                </a:lnSpc>
                <a:spcBef>
                  <a:spcPts val="595"/>
                </a:spcBef>
                <a:spcAft>
                  <a:spcPts val="0"/>
                </a:spcAft>
                <a:buClr>
                  <a:schemeClr val="dk1"/>
                </a:buClr>
                <a:buSzPts val="1700"/>
                <a:buFont typeface="Arial"/>
                <a:buNone/>
              </a:pPr>
              <a:r>
                <a:t/>
              </a:r>
              <a:endParaRPr sz="1700">
                <a:solidFill>
                  <a:schemeClr val="lt1"/>
                </a:solidFill>
                <a:latin typeface="Arial"/>
                <a:ea typeface="Arial"/>
                <a:cs typeface="Arial"/>
                <a:sym typeface="Arial"/>
              </a:endParaRPr>
            </a:p>
            <a:p>
              <a:pPr indent="0" lvl="0" marL="0" marR="0" rtl="0" algn="ctr">
                <a:lnSpc>
                  <a:spcPct val="90000"/>
                </a:lnSpc>
                <a:spcBef>
                  <a:spcPts val="595"/>
                </a:spcBef>
                <a:spcAft>
                  <a:spcPts val="0"/>
                </a:spcAft>
                <a:buClr>
                  <a:schemeClr val="lt1"/>
                </a:buClr>
                <a:buSzPts val="1700"/>
                <a:buFont typeface="Arial"/>
                <a:buNone/>
              </a:pPr>
              <a:r>
                <a:rPr lang="en-CA" sz="1700">
                  <a:solidFill>
                    <a:schemeClr val="lt1"/>
                  </a:solidFill>
                  <a:latin typeface="Arial"/>
                  <a:ea typeface="Arial"/>
                  <a:cs typeface="Arial"/>
                  <a:sym typeface="Arial"/>
                </a:rPr>
                <a:t>Move from local to any cloud without rewrites, avoiding vendor lock-in</a:t>
              </a:r>
              <a:endParaRPr sz="1700">
                <a:solidFill>
                  <a:schemeClr val="lt1"/>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Topics</a:t>
            </a:r>
            <a:endParaRPr/>
          </a:p>
        </p:txBody>
      </p:sp>
      <p:sp>
        <p:nvSpPr>
          <p:cNvPr id="151" name="Google Shape;15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Producing Structured Output with Agents (AI Agent SQL)</a:t>
            </a:r>
            <a:endParaRPr/>
          </a:p>
          <a:p>
            <a:pPr indent="-228600" lvl="0" marL="228600" rtl="0" algn="l">
              <a:lnSpc>
                <a:spcPct val="90000"/>
              </a:lnSpc>
              <a:spcBef>
                <a:spcPts val="1000"/>
              </a:spcBef>
              <a:spcAft>
                <a:spcPts val="0"/>
              </a:spcAft>
              <a:buClr>
                <a:schemeClr val="dk1"/>
              </a:buClr>
              <a:buSzPts val="2800"/>
              <a:buChar char="•"/>
            </a:pPr>
            <a:r>
              <a:rPr lang="en-CA"/>
              <a:t>Create a Simple Sequential Workflow</a:t>
            </a:r>
            <a:endParaRPr/>
          </a:p>
          <a:p>
            <a:pPr indent="-165100" lvl="0" marL="228600" rtl="0" algn="l">
              <a:lnSpc>
                <a:spcPct val="90000"/>
              </a:lnSpc>
              <a:spcBef>
                <a:spcPts val="1000"/>
              </a:spcBef>
              <a:spcAft>
                <a:spcPts val="0"/>
              </a:spcAft>
              <a:buSzPts val="1800"/>
              <a:buChar char="•"/>
            </a:pPr>
            <a:r>
              <a:rPr lang="en-CA"/>
              <a:t>Concurrent Workflow</a:t>
            </a:r>
            <a:endParaRPr/>
          </a:p>
          <a:p>
            <a:pPr indent="-165100" lvl="0" marL="228600" rtl="0" algn="l">
              <a:lnSpc>
                <a:spcPct val="90000"/>
              </a:lnSpc>
              <a:spcBef>
                <a:spcPts val="1000"/>
              </a:spcBef>
              <a:spcAft>
                <a:spcPts val="0"/>
              </a:spcAft>
              <a:buSzPts val="1800"/>
              <a:buChar char="•"/>
            </a:pPr>
            <a:r>
              <a:rPr lang="en-CA"/>
              <a:t>Payment Transaction Validator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Producing Structured Output with Agents</a:t>
            </a:r>
            <a:endParaRPr/>
          </a:p>
        </p:txBody>
      </p:sp>
      <p:sp>
        <p:nvSpPr>
          <p:cNvPr id="157" name="Google Shape;157;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What is structured output with an agent?</a:t>
            </a:r>
            <a:endParaRPr/>
          </a:p>
        </p:txBody>
      </p:sp>
      <p:sp>
        <p:nvSpPr>
          <p:cNvPr id="163" name="Google Shape;16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Structured output with an agent means that an AI agent is designed to return its results in a predefined, machine-readable format, instead of free-form text</a:t>
            </a:r>
            <a:endParaRPr/>
          </a:p>
          <a:p>
            <a:pPr indent="-228600" lvl="0" marL="228600" rtl="0" algn="l">
              <a:lnSpc>
                <a:spcPct val="90000"/>
              </a:lnSpc>
              <a:spcBef>
                <a:spcPts val="1000"/>
              </a:spcBef>
              <a:spcAft>
                <a:spcPts val="0"/>
              </a:spcAft>
              <a:buClr>
                <a:schemeClr val="dk1"/>
              </a:buClr>
              <a:buSzPts val="2800"/>
              <a:buChar char="•"/>
            </a:pPr>
            <a:r>
              <a:rPr lang="en-CA"/>
              <a:t>In simple terms:</a:t>
            </a:r>
            <a:endParaRPr/>
          </a:p>
          <a:p>
            <a:pPr indent="0" lvl="0" marL="0" rtl="0" algn="l">
              <a:lnSpc>
                <a:spcPct val="90000"/>
              </a:lnSpc>
              <a:spcBef>
                <a:spcPts val="1000"/>
              </a:spcBef>
              <a:spcAft>
                <a:spcPts val="0"/>
              </a:spcAft>
              <a:buClr>
                <a:schemeClr val="dk1"/>
              </a:buClr>
              <a:buSzPts val="2800"/>
              <a:buNone/>
            </a:pPr>
            <a:r>
              <a:rPr lang="en-CA"/>
              <a:t>👉 the agent doesn’t just talk — it responds with data that other systems can reliably consume.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Why is structured output important?</a:t>
            </a:r>
            <a:endParaRPr/>
          </a:p>
        </p:txBody>
      </p:sp>
      <p:sp>
        <p:nvSpPr>
          <p:cNvPr id="169" name="Google Shape;169;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Structured output is important because it makes AI reliable, automatable, and safe to integrate into real systems.</a:t>
            </a:r>
            <a:endParaRPr/>
          </a:p>
          <a:p>
            <a:pPr indent="-228600" lvl="0" marL="228600" rtl="0" algn="l">
              <a:lnSpc>
                <a:spcPct val="90000"/>
              </a:lnSpc>
              <a:spcBef>
                <a:spcPts val="1000"/>
              </a:spcBef>
              <a:spcAft>
                <a:spcPts val="0"/>
              </a:spcAft>
              <a:buClr>
                <a:schemeClr val="dk1"/>
              </a:buClr>
              <a:buSzPts val="2800"/>
              <a:buChar char="•"/>
            </a:pPr>
            <a:r>
              <a:rPr lang="en-CA"/>
              <a:t>We can enable dynamic analysis of business rules.</a:t>
            </a:r>
            <a:endParaRPr/>
          </a:p>
          <a:p>
            <a:pPr indent="-228600" lvl="0" marL="228600" rtl="0" algn="l">
              <a:lnSpc>
                <a:spcPct val="90000"/>
              </a:lnSpc>
              <a:spcBef>
                <a:spcPts val="1000"/>
              </a:spcBef>
              <a:spcAft>
                <a:spcPts val="0"/>
              </a:spcAft>
              <a:buClr>
                <a:schemeClr val="dk1"/>
              </a:buClr>
              <a:buSzPts val="2800"/>
              <a:buChar char="•"/>
            </a:pPr>
            <a:r>
              <a:rPr lang="en-CA"/>
              <a:t>For example, a fintech operating with Bitcoin and equities needs to send user-friendly notifications about:</a:t>
            </a:r>
            <a:endParaRPr/>
          </a:p>
          <a:p>
            <a:pPr indent="-254000" lvl="1" marL="685800" rtl="0" algn="l">
              <a:lnSpc>
                <a:spcPct val="90000"/>
              </a:lnSpc>
              <a:spcBef>
                <a:spcPts val="500"/>
              </a:spcBef>
              <a:spcAft>
                <a:spcPts val="0"/>
              </a:spcAft>
              <a:buClr>
                <a:schemeClr val="dk1"/>
              </a:buClr>
              <a:buSzPts val="2800"/>
              <a:buChar char="•"/>
            </a:pPr>
            <a:r>
              <a:rPr lang="en-CA" sz="2800"/>
              <a:t>new investments</a:t>
            </a:r>
            <a:endParaRPr sz="2800"/>
          </a:p>
          <a:p>
            <a:pPr indent="-254000" lvl="1" marL="685800" rtl="0" algn="l">
              <a:lnSpc>
                <a:spcPct val="90000"/>
              </a:lnSpc>
              <a:spcBef>
                <a:spcPts val="500"/>
              </a:spcBef>
              <a:spcAft>
                <a:spcPts val="0"/>
              </a:spcAft>
              <a:buClr>
                <a:schemeClr val="dk1"/>
              </a:buClr>
              <a:buSzPts val="2800"/>
              <a:buChar char="•"/>
            </a:pPr>
            <a:r>
              <a:rPr lang="en-CA" sz="2800"/>
              <a:t>price appreciation and depreciation,</a:t>
            </a:r>
            <a:endParaRPr sz="2800"/>
          </a:p>
          <a:p>
            <a:pPr indent="-254000" lvl="1" marL="685800" rtl="0" algn="l">
              <a:lnSpc>
                <a:spcPct val="90000"/>
              </a:lnSpc>
              <a:spcBef>
                <a:spcPts val="500"/>
              </a:spcBef>
              <a:spcAft>
                <a:spcPts val="0"/>
              </a:spcAft>
              <a:buClr>
                <a:schemeClr val="dk1"/>
              </a:buClr>
              <a:buSzPts val="2800"/>
              <a:buChar char="•"/>
            </a:pPr>
            <a:r>
              <a:rPr lang="en-CA" sz="2800"/>
              <a:t>market movements and growth trends.</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Why is structured output important?</a:t>
            </a:r>
            <a:endParaRPr/>
          </a:p>
        </p:txBody>
      </p:sp>
      <p:sp>
        <p:nvSpPr>
          <p:cNvPr id="175" name="Google Shape;175;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We can design a set of microservices, exposing APIs that receive data and instructions, supported by classes that can interact with one another.</a:t>
            </a:r>
            <a:br>
              <a:rPr lang="en-CA"/>
            </a:br>
            <a:r>
              <a:rPr lang="en-CA"/>
              <a:t> Each class encapsulates its own AI-driven business logic and is able to orchestrate with other components, producing high-quality and consistent results.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Another Use Case</a:t>
            </a:r>
            <a:endParaRPr/>
          </a:p>
        </p:txBody>
      </p:sp>
      <p:sp>
        <p:nvSpPr>
          <p:cNvPr id="181" name="Google Shape;18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0000" lnSpcReduction="20000"/>
          </a:bodyPr>
          <a:lstStyle/>
          <a:p>
            <a:pPr indent="-220723" lvl="0" marL="228600" rtl="0" algn="l">
              <a:lnSpc>
                <a:spcPct val="90000"/>
              </a:lnSpc>
              <a:spcBef>
                <a:spcPts val="0"/>
              </a:spcBef>
              <a:spcAft>
                <a:spcPts val="0"/>
              </a:spcAft>
              <a:buClr>
                <a:schemeClr val="dk1"/>
              </a:buClr>
              <a:buSzPct val="100000"/>
              <a:buChar char="•"/>
            </a:pPr>
            <a:r>
              <a:rPr lang="en-CA" sz="5639"/>
              <a:t>Another use case is leveraging structured inputs, such as friendly, guided questions, and connecting the agent directly to database inputs.</a:t>
            </a:r>
            <a:endParaRPr sz="5639"/>
          </a:p>
          <a:p>
            <a:pPr indent="-220723" lvl="0" marL="228600" rtl="0" algn="l">
              <a:lnSpc>
                <a:spcPct val="90000"/>
              </a:lnSpc>
              <a:spcBef>
                <a:spcPts val="1000"/>
              </a:spcBef>
              <a:spcAft>
                <a:spcPts val="0"/>
              </a:spcAft>
              <a:buClr>
                <a:schemeClr val="dk1"/>
              </a:buClr>
              <a:buSzPct val="100000"/>
              <a:buChar char="•"/>
            </a:pPr>
            <a:r>
              <a:rPr lang="en-CA" sz="5639"/>
              <a:t>Additionally, we can:</a:t>
            </a:r>
            <a:endParaRPr sz="5639"/>
          </a:p>
          <a:p>
            <a:pPr indent="-242313" lvl="1" marL="685800" rtl="0" algn="l">
              <a:lnSpc>
                <a:spcPct val="90000"/>
              </a:lnSpc>
              <a:spcBef>
                <a:spcPts val="500"/>
              </a:spcBef>
              <a:spcAft>
                <a:spcPts val="0"/>
              </a:spcAft>
              <a:buClr>
                <a:schemeClr val="dk1"/>
              </a:buClr>
              <a:buSzPct val="100000"/>
              <a:buChar char="•"/>
            </a:pPr>
            <a:r>
              <a:rPr lang="en-CA" sz="5639"/>
              <a:t>define regex-based rules for data filtering</a:t>
            </a:r>
            <a:endParaRPr sz="5639"/>
          </a:p>
          <a:p>
            <a:pPr indent="-242313" lvl="1" marL="685800" rtl="0" algn="l">
              <a:lnSpc>
                <a:spcPct val="90000"/>
              </a:lnSpc>
              <a:spcBef>
                <a:spcPts val="500"/>
              </a:spcBef>
              <a:spcAft>
                <a:spcPts val="0"/>
              </a:spcAft>
              <a:buClr>
                <a:schemeClr val="dk1"/>
              </a:buClr>
              <a:buSzPct val="100000"/>
              <a:buChar char="•"/>
            </a:pPr>
            <a:r>
              <a:rPr lang="en-CA" sz="5639"/>
              <a:t>orchestrate API workflows</a:t>
            </a:r>
            <a:endParaRPr sz="5639"/>
          </a:p>
          <a:p>
            <a:pPr indent="-242313" lvl="1" marL="685800" rtl="0" algn="l">
              <a:lnSpc>
                <a:spcPct val="90000"/>
              </a:lnSpc>
              <a:spcBef>
                <a:spcPts val="500"/>
              </a:spcBef>
              <a:spcAft>
                <a:spcPts val="0"/>
              </a:spcAft>
              <a:buClr>
                <a:schemeClr val="dk1"/>
              </a:buClr>
              <a:buSzPct val="100000"/>
              <a:buChar char="•"/>
            </a:pPr>
            <a:r>
              <a:rPr lang="en-CA" sz="5639"/>
              <a:t>perform data transformation and enrichment</a:t>
            </a:r>
            <a:endParaRPr sz="5639"/>
          </a:p>
          <a:p>
            <a:pPr indent="-220723" lvl="0" marL="228600" rtl="0" algn="l">
              <a:lnSpc>
                <a:spcPct val="90000"/>
              </a:lnSpc>
              <a:spcBef>
                <a:spcPts val="1000"/>
              </a:spcBef>
              <a:spcAft>
                <a:spcPts val="0"/>
              </a:spcAft>
              <a:buClr>
                <a:schemeClr val="dk1"/>
              </a:buClr>
              <a:buSzPct val="100000"/>
              <a:buChar char="•"/>
            </a:pPr>
            <a:r>
              <a:rPr lang="en-CA" sz="5639"/>
              <a:t>In this context, structured output allows us to make our APIs significantly more dynamic, enabling them to produce precise, actionable, and business-oriented information.</a:t>
            </a:r>
            <a:endParaRPr sz="5639"/>
          </a:p>
          <a:p>
            <a:pPr indent="-220723" lvl="0" marL="228600" rtl="0" algn="l">
              <a:lnSpc>
                <a:spcPct val="90000"/>
              </a:lnSpc>
              <a:spcBef>
                <a:spcPts val="1000"/>
              </a:spcBef>
              <a:spcAft>
                <a:spcPts val="0"/>
              </a:spcAft>
              <a:buClr>
                <a:schemeClr val="dk1"/>
              </a:buClr>
              <a:buSzPct val="100000"/>
              <a:buChar char="•"/>
            </a:pPr>
            <a:r>
              <a:rPr lang="en-CA" sz="5639"/>
              <a:t>What would traditionally require two development sprints to implement a complex architecture can be delivered in significantly less time using structured output, with greater predictability, lower complexity, and faster time to value.</a:t>
            </a:r>
            <a:endParaRPr sz="5639"/>
          </a:p>
          <a:p>
            <a:pPr indent="-77470" lvl="0" marL="22860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Demonstration</a:t>
            </a:r>
            <a:endParaRPr/>
          </a:p>
        </p:txBody>
      </p:sp>
      <p:sp>
        <p:nvSpPr>
          <p:cNvPr id="187" name="Google Shape;18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PATCH /employees:</a:t>
            </a:r>
            <a:br>
              <a:rPr lang="en-CA"/>
            </a:br>
            <a:r>
              <a:rPr lang="en-CA"/>
              <a:t>Reads Chat Config, executes an Azure OpenAI agent that generates an AIResponse, which is used as a filter (filter.AIAnswer) to query the Employee Repository, and return the list of employees.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POST /agent-run:</a:t>
            </a:r>
            <a:br>
              <a:rPr lang="en-CA"/>
            </a:br>
            <a:r>
              <a:rPr lang="en-CA"/>
              <a:t>Reads Chat Config, executes an Azure OpenAI agent that produces a PersonInfo JSON, deserializes it, and returns the PersonInfo object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Producing Structured Output with Agents</a:t>
            </a:r>
            <a:endParaRPr/>
          </a:p>
        </p:txBody>
      </p:sp>
      <p:sp>
        <p:nvSpPr>
          <p:cNvPr id="193" name="Google Shape;193;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en-CA"/>
              <a:t>DEMO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Simple </a:t>
            </a:r>
            <a:r>
              <a:rPr lang="en-CA"/>
              <a:t>sequential</a:t>
            </a:r>
            <a:r>
              <a:rPr lang="en-CA"/>
              <a:t> workflow</a:t>
            </a:r>
            <a:endParaRPr/>
          </a:p>
        </p:txBody>
      </p:sp>
      <p:sp>
        <p:nvSpPr>
          <p:cNvPr id="199" name="Google Shape;199;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ph type="title"/>
          </p:nvPr>
        </p:nvSpPr>
        <p:spPr>
          <a:xfrm>
            <a:off x="838200" y="4046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Simple Sequential Workflow</a:t>
            </a:r>
            <a:endParaRPr/>
          </a:p>
        </p:txBody>
      </p:sp>
      <p:sp>
        <p:nvSpPr>
          <p:cNvPr id="206" name="Google Shape;206;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Is designed to handle complex and long-running processes that might involve multiple agents, human interactions, and integrations with external systems</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b8df0275c8_0_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CA"/>
              <a:t>Simple Sequential Workflow</a:t>
            </a:r>
            <a:endParaRPr/>
          </a:p>
        </p:txBody>
      </p:sp>
      <p:sp>
        <p:nvSpPr>
          <p:cNvPr id="213" name="Google Shape;213;g3b8df0275c8_0_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852"/>
              <a:buFont typeface="Arial"/>
              <a:buNone/>
            </a:pPr>
            <a:r>
              <a:rPr b="1" lang="en-CA" sz="1752"/>
              <a:t>Simple Sequential Workflow (.NET + AI)</a:t>
            </a:r>
            <a:r>
              <a:rPr lang="en-CA" sz="1752"/>
              <a:t> is a linear execution flow in which each step runs in order, one after the other, with no parallelism or complex branching, using .NET as the foundation and AI to make decisions or generate responses.</a:t>
            </a:r>
            <a:endParaRPr sz="1752"/>
          </a:p>
          <a:p>
            <a:pPr indent="0" lvl="0" marL="0" rtl="0" algn="l">
              <a:lnSpc>
                <a:spcPct val="95000"/>
              </a:lnSpc>
              <a:spcBef>
                <a:spcPts val="1400"/>
              </a:spcBef>
              <a:spcAft>
                <a:spcPts val="0"/>
              </a:spcAft>
              <a:buClr>
                <a:schemeClr val="dk1"/>
              </a:buClr>
              <a:buSzPts val="852"/>
              <a:buFont typeface="Arial"/>
              <a:buNone/>
            </a:pPr>
            <a:r>
              <a:rPr b="1" lang="en-CA" sz="2207"/>
              <a:t>In simple terms</a:t>
            </a:r>
            <a:endParaRPr b="1" sz="2207"/>
          </a:p>
          <a:p>
            <a:pPr indent="0" lvl="0" marL="0" rtl="0" algn="l">
              <a:lnSpc>
                <a:spcPct val="95000"/>
              </a:lnSpc>
              <a:spcBef>
                <a:spcPts val="1200"/>
              </a:spcBef>
              <a:spcAft>
                <a:spcPts val="0"/>
              </a:spcAft>
              <a:buClr>
                <a:schemeClr val="dk1"/>
              </a:buClr>
              <a:buSzPts val="852"/>
              <a:buFont typeface="Arial"/>
              <a:buNone/>
            </a:pPr>
            <a:r>
              <a:rPr lang="en-CA" sz="2052"/>
              <a:t>Step 1 → Step 2 → Step 3 → End</a:t>
            </a:r>
            <a:endParaRPr sz="2052"/>
          </a:p>
          <a:p>
            <a:pPr indent="0" lvl="0" marL="0" rtl="0" algn="l">
              <a:lnSpc>
                <a:spcPct val="95000"/>
              </a:lnSpc>
              <a:spcBef>
                <a:spcPts val="1200"/>
              </a:spcBef>
              <a:spcAft>
                <a:spcPts val="0"/>
              </a:spcAft>
              <a:buClr>
                <a:schemeClr val="dk1"/>
              </a:buClr>
              <a:buSzPts val="852"/>
              <a:buFont typeface="Arial"/>
              <a:buNone/>
            </a:pPr>
            <a:r>
              <a:rPr lang="en-CA" sz="2052"/>
              <a:t>Each step:</a:t>
            </a:r>
            <a:endParaRPr sz="2052"/>
          </a:p>
          <a:p>
            <a:pPr indent="-358933" lvl="0" marL="457200" rtl="0" algn="l">
              <a:lnSpc>
                <a:spcPct val="95000"/>
              </a:lnSpc>
              <a:spcBef>
                <a:spcPts val="1200"/>
              </a:spcBef>
              <a:spcAft>
                <a:spcPts val="0"/>
              </a:spcAft>
              <a:buSzPts val="2053"/>
              <a:buChar char="●"/>
            </a:pPr>
            <a:r>
              <a:rPr lang="en-CA" sz="2052"/>
              <a:t>receives the output from the previous one</a:t>
            </a:r>
            <a:br>
              <a:rPr lang="en-CA" sz="2052"/>
            </a:br>
            <a:endParaRPr sz="2052"/>
          </a:p>
          <a:p>
            <a:pPr indent="-358933" lvl="0" marL="457200" rtl="0" algn="l">
              <a:lnSpc>
                <a:spcPct val="95000"/>
              </a:lnSpc>
              <a:spcBef>
                <a:spcPts val="0"/>
              </a:spcBef>
              <a:spcAft>
                <a:spcPts val="0"/>
              </a:spcAft>
              <a:buSzPts val="2053"/>
              <a:buChar char="●"/>
            </a:pPr>
            <a:r>
              <a:rPr lang="en-CA" sz="2052"/>
              <a:t>performs an action</a:t>
            </a:r>
            <a:br>
              <a:rPr lang="en-CA" sz="2052"/>
            </a:br>
            <a:endParaRPr sz="2052"/>
          </a:p>
          <a:p>
            <a:pPr indent="-301783" lvl="0" marL="457200" rtl="0" algn="l">
              <a:lnSpc>
                <a:spcPct val="95000"/>
              </a:lnSpc>
              <a:spcBef>
                <a:spcPts val="0"/>
              </a:spcBef>
              <a:spcAft>
                <a:spcPts val="0"/>
              </a:spcAft>
              <a:buSzPts val="1153"/>
              <a:buChar char="●"/>
            </a:pPr>
            <a:r>
              <a:rPr lang="en-CA" sz="2052"/>
              <a:t>passes the result forward</a:t>
            </a:r>
            <a:br>
              <a:rPr lang="en-CA" sz="1152"/>
            </a:br>
            <a:endParaRPr sz="1152"/>
          </a:p>
          <a:p>
            <a:pPr indent="0" lvl="0" marL="0" rtl="0" algn="l">
              <a:lnSpc>
                <a:spcPct val="70000"/>
              </a:lnSpc>
              <a:spcBef>
                <a:spcPts val="1200"/>
              </a:spcBef>
              <a:spcAft>
                <a:spcPts val="0"/>
              </a:spcAft>
              <a:buSzPts val="852"/>
              <a:buNone/>
            </a:pPr>
            <a:r>
              <a:t/>
            </a:r>
            <a:endParaRPr sz="217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b8df0275c8_0_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CA"/>
              <a:t>Simple Sequential Workflow</a:t>
            </a:r>
            <a:endParaRPr/>
          </a:p>
        </p:txBody>
      </p:sp>
      <p:sp>
        <p:nvSpPr>
          <p:cNvPr id="220" name="Google Shape;220;g3b8df0275c8_0_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95000"/>
              </a:lnSpc>
              <a:spcBef>
                <a:spcPts val="1400"/>
              </a:spcBef>
              <a:spcAft>
                <a:spcPts val="0"/>
              </a:spcAft>
              <a:buClr>
                <a:schemeClr val="dk1"/>
              </a:buClr>
              <a:buSzPts val="852"/>
              <a:buFont typeface="Arial"/>
              <a:buNone/>
            </a:pPr>
            <a:r>
              <a:rPr b="1" lang="en-CA" sz="2407"/>
              <a:t>Simple mental example</a:t>
            </a:r>
            <a:endParaRPr b="1" sz="2407"/>
          </a:p>
          <a:p>
            <a:pPr indent="-371633" lvl="0" marL="457200" rtl="0" algn="l">
              <a:lnSpc>
                <a:spcPct val="95000"/>
              </a:lnSpc>
              <a:spcBef>
                <a:spcPts val="1200"/>
              </a:spcBef>
              <a:spcAft>
                <a:spcPts val="0"/>
              </a:spcAft>
              <a:buSzPts val="2253"/>
              <a:buChar char="●"/>
            </a:pPr>
            <a:r>
              <a:rPr lang="en-CA" sz="2252"/>
              <a:t>Receive a text from the user</a:t>
            </a:r>
            <a:br>
              <a:rPr lang="en-CA" sz="2252"/>
            </a:br>
            <a:endParaRPr sz="2252"/>
          </a:p>
          <a:p>
            <a:pPr indent="-371633" lvl="0" marL="457200" rtl="0" algn="l">
              <a:lnSpc>
                <a:spcPct val="95000"/>
              </a:lnSpc>
              <a:spcBef>
                <a:spcPts val="0"/>
              </a:spcBef>
              <a:spcAft>
                <a:spcPts val="0"/>
              </a:spcAft>
              <a:buSzPts val="2253"/>
              <a:buChar char="●"/>
            </a:pPr>
            <a:r>
              <a:rPr lang="en-CA" sz="2252"/>
              <a:t>Send the text to an Lib/ Method/ LLM model</a:t>
            </a:r>
            <a:br>
              <a:rPr lang="en-CA" sz="2252"/>
            </a:br>
            <a:endParaRPr sz="2252"/>
          </a:p>
          <a:p>
            <a:pPr indent="-371633" lvl="0" marL="457200" rtl="0" algn="l">
              <a:lnSpc>
                <a:spcPct val="95000"/>
              </a:lnSpc>
              <a:spcBef>
                <a:spcPts val="0"/>
              </a:spcBef>
              <a:spcAft>
                <a:spcPts val="0"/>
              </a:spcAft>
              <a:buSzPts val="2253"/>
              <a:buChar char="●"/>
            </a:pPr>
            <a:r>
              <a:rPr lang="en-CA" sz="2252"/>
              <a:t>Interpret the response</a:t>
            </a:r>
            <a:br>
              <a:rPr lang="en-CA" sz="2252"/>
            </a:br>
            <a:endParaRPr sz="2252"/>
          </a:p>
          <a:p>
            <a:pPr indent="-371633" lvl="0" marL="457200" rtl="0" algn="l">
              <a:lnSpc>
                <a:spcPct val="95000"/>
              </a:lnSpc>
              <a:spcBef>
                <a:spcPts val="0"/>
              </a:spcBef>
              <a:spcAft>
                <a:spcPts val="0"/>
              </a:spcAft>
              <a:buSzPts val="2253"/>
              <a:buChar char="●"/>
            </a:pPr>
            <a:r>
              <a:rPr lang="en-CA" sz="2252"/>
              <a:t>Return the result to the API</a:t>
            </a:r>
            <a:br>
              <a:rPr lang="en-CA" sz="2252"/>
            </a:br>
            <a:endParaRPr sz="2252"/>
          </a:p>
          <a:p>
            <a:pPr indent="0" lvl="0" marL="0" rtl="0" algn="l">
              <a:lnSpc>
                <a:spcPct val="95000"/>
              </a:lnSpc>
              <a:spcBef>
                <a:spcPts val="1200"/>
              </a:spcBef>
              <a:spcAft>
                <a:spcPts val="1200"/>
              </a:spcAft>
              <a:buClr>
                <a:schemeClr val="dk1"/>
              </a:buClr>
              <a:buSzPts val="852"/>
              <a:buFont typeface="Arial"/>
              <a:buNone/>
            </a:pPr>
            <a:r>
              <a:rPr lang="en-CA" sz="2252"/>
              <a:t>Nothing happens out of order.</a:t>
            </a:r>
            <a:endParaRPr sz="3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b8df0275c8_0_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CA"/>
              <a:t>Simple Sequential Workflow</a:t>
            </a:r>
            <a:endParaRPr/>
          </a:p>
        </p:txBody>
      </p:sp>
      <p:sp>
        <p:nvSpPr>
          <p:cNvPr id="227" name="Google Shape;227;g3b8df0275c8_0_2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CA"/>
              <a:t>How to build a simple structure?</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CA"/>
              <a:t>I</a:t>
            </a:r>
            <a:r>
              <a:rPr lang="en-CA"/>
              <a:t>s a simple C# console application that demonstrates a sequential workflow using Agent Framework Workflows. It converts input text to uppercase and then reverses it, executing the steps in sequence.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Demo</a:t>
            </a:r>
            <a:endParaRPr/>
          </a:p>
        </p:txBody>
      </p:sp>
      <p:sp>
        <p:nvSpPr>
          <p:cNvPr id="234" name="Google Shape;234;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en-CA"/>
              <a:t>Simple Sequential Workflow</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b8df0275c8_0_34"/>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Concurrent Workflow</a:t>
            </a:r>
            <a:endParaRPr/>
          </a:p>
        </p:txBody>
      </p:sp>
      <p:sp>
        <p:nvSpPr>
          <p:cNvPr id="241" name="Google Shape;241;g3b8df0275c8_0_34"/>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Simple Concurrent Workflow</a:t>
            </a:r>
            <a:endParaRPr/>
          </a:p>
        </p:txBody>
      </p:sp>
      <p:sp>
        <p:nvSpPr>
          <p:cNvPr id="248" name="Google Shape;248;p21"/>
          <p:cNvSpPr txBox="1"/>
          <p:nvPr>
            <p:ph idx="1" type="body"/>
          </p:nvPr>
        </p:nvSpPr>
        <p:spPr>
          <a:xfrm>
            <a:off x="838200" y="1825625"/>
            <a:ext cx="8514347" cy="4351338"/>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CA" sz="2100"/>
              <a:t>A concurrent workflow</a:t>
            </a:r>
            <a:r>
              <a:rPr lang="en-CA" sz="2100"/>
              <a:t> is a model in which </a:t>
            </a:r>
            <a:r>
              <a:rPr b="1" lang="en-CA" sz="2100"/>
              <a:t>multiple tasks or steps are executed at the same time</a:t>
            </a:r>
            <a:r>
              <a:rPr lang="en-CA" sz="2100"/>
              <a:t>, either in parallel or partially in parallel, instead of one after another (sequentially).</a:t>
            </a:r>
            <a:endParaRPr sz="2100"/>
          </a:p>
          <a:p>
            <a:pPr indent="0" lvl="0" marL="0" rtl="0" algn="l">
              <a:lnSpc>
                <a:spcPct val="115000"/>
              </a:lnSpc>
              <a:spcBef>
                <a:spcPts val="1200"/>
              </a:spcBef>
              <a:spcAft>
                <a:spcPts val="0"/>
              </a:spcAft>
              <a:buClr>
                <a:schemeClr val="dk1"/>
              </a:buClr>
              <a:buSzPts val="1100"/>
              <a:buFont typeface="Arial"/>
              <a:buNone/>
            </a:pPr>
            <a:r>
              <a:rPr b="1" lang="en-CA" sz="2100"/>
              <a:t>Basic concept</a:t>
            </a:r>
            <a:endParaRPr b="1" sz="2100"/>
          </a:p>
          <a:p>
            <a:pPr indent="-361950" lvl="0" marL="457200" rtl="0" algn="l">
              <a:lnSpc>
                <a:spcPct val="115000"/>
              </a:lnSpc>
              <a:spcBef>
                <a:spcPts val="1200"/>
              </a:spcBef>
              <a:spcAft>
                <a:spcPts val="0"/>
              </a:spcAft>
              <a:buSzPts val="2100"/>
              <a:buChar char="●"/>
            </a:pPr>
            <a:r>
              <a:rPr b="1" lang="en-CA" sz="2100"/>
              <a:t>Concurrent</a:t>
            </a:r>
            <a:r>
              <a:rPr lang="en-CA" sz="2100"/>
              <a:t>: A, B, and C can occur </a:t>
            </a:r>
            <a:r>
              <a:rPr b="1" lang="en-CA" sz="2100"/>
              <a:t>simultaneously</a:t>
            </a:r>
            <a:r>
              <a:rPr lang="en-CA" sz="2100"/>
              <a:t> or with </a:t>
            </a:r>
            <a:r>
              <a:rPr b="1" lang="en-CA" sz="2100"/>
              <a:t>overlapping execution time</a:t>
            </a:r>
            <a:endParaRPr b="1" sz="2100"/>
          </a:p>
          <a:p>
            <a:pPr indent="0" lvl="0" marL="0" rtl="0" algn="l">
              <a:lnSpc>
                <a:spcPct val="90000"/>
              </a:lnSpc>
              <a:spcBef>
                <a:spcPts val="12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b8df0275c8_0_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Simple Concurrent Workflow</a:t>
            </a:r>
            <a:endParaRPr/>
          </a:p>
        </p:txBody>
      </p:sp>
      <p:sp>
        <p:nvSpPr>
          <p:cNvPr id="255" name="Google Shape;255;g3b8df0275c8_0_40"/>
          <p:cNvSpPr txBox="1"/>
          <p:nvPr>
            <p:ph idx="1" type="body"/>
          </p:nvPr>
        </p:nvSpPr>
        <p:spPr>
          <a:xfrm>
            <a:off x="838200" y="1825625"/>
            <a:ext cx="85143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CA"/>
              <a:t>This engine implements fan-out and fan-in.</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CA"/>
              <a:t>Are patterns that enable parallel processing, allowing multiple executors or agents to work simultaneously and then aggregate their results.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b8df0275c8_0_4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Simple Concurrent Workflow</a:t>
            </a:r>
            <a:endParaRPr/>
          </a:p>
        </p:txBody>
      </p:sp>
      <p:sp>
        <p:nvSpPr>
          <p:cNvPr id="262" name="Google Shape;262;g3b8df0275c8_0_49"/>
          <p:cNvSpPr txBox="1"/>
          <p:nvPr>
            <p:ph idx="1" type="body"/>
          </p:nvPr>
        </p:nvSpPr>
        <p:spPr>
          <a:xfrm>
            <a:off x="838200" y="1825625"/>
            <a:ext cx="85143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CA" sz="2300"/>
              <a:t> </a:t>
            </a:r>
            <a:r>
              <a:rPr b="1" lang="en-CA" sz="2700"/>
              <a:t>Fan-out</a:t>
            </a:r>
            <a:endParaRPr b="1" sz="2700"/>
          </a:p>
          <a:p>
            <a:pPr indent="0" lvl="0" marL="0" rtl="0" algn="l">
              <a:lnSpc>
                <a:spcPct val="115000"/>
              </a:lnSpc>
              <a:spcBef>
                <a:spcPts val="1200"/>
              </a:spcBef>
              <a:spcAft>
                <a:spcPts val="0"/>
              </a:spcAft>
              <a:buClr>
                <a:schemeClr val="dk1"/>
              </a:buClr>
              <a:buSzPts val="1100"/>
              <a:buFont typeface="Arial"/>
              <a:buNone/>
            </a:pPr>
            <a:r>
              <a:rPr b="1" lang="en-CA" sz="2100"/>
              <a:t>Fan-out</a:t>
            </a:r>
            <a:r>
              <a:rPr lang="en-CA" sz="2100"/>
              <a:t> is when a </a:t>
            </a:r>
            <a:r>
              <a:rPr b="1" lang="en-CA" sz="2100"/>
              <a:t>main task triggers multiple tasks in parallel</a:t>
            </a:r>
            <a:r>
              <a:rPr lang="en-CA" sz="2100"/>
              <a:t>.</a:t>
            </a:r>
            <a:endParaRPr sz="2100"/>
          </a:p>
          <a:p>
            <a:pPr indent="-361950" lvl="0" marL="457200" rtl="0" algn="l">
              <a:lnSpc>
                <a:spcPct val="115000"/>
              </a:lnSpc>
              <a:spcBef>
                <a:spcPts val="1200"/>
              </a:spcBef>
              <a:spcAft>
                <a:spcPts val="0"/>
              </a:spcAft>
              <a:buSzPts val="2100"/>
              <a:buChar char="●"/>
            </a:pPr>
            <a:r>
              <a:rPr lang="en-CA" sz="2100"/>
              <a:t>Goal: split the work for simultaneous execution.</a:t>
            </a:r>
            <a:br>
              <a:rPr lang="en-CA" sz="2100"/>
            </a:br>
            <a:endParaRPr sz="2100"/>
          </a:p>
          <a:p>
            <a:pPr indent="-361950" lvl="0" marL="457200" rtl="0" algn="l">
              <a:lnSpc>
                <a:spcPct val="115000"/>
              </a:lnSpc>
              <a:spcBef>
                <a:spcPts val="0"/>
              </a:spcBef>
              <a:spcAft>
                <a:spcPts val="0"/>
              </a:spcAft>
              <a:buSzPts val="2100"/>
              <a:buChar char="●"/>
            </a:pPr>
            <a:r>
              <a:rPr lang="en-CA" sz="2100"/>
              <a:t>This can significantly improve performance when tasks are independent.</a:t>
            </a:r>
            <a:endParaRPr sz="2100"/>
          </a:p>
          <a:p>
            <a:pPr indent="0" lvl="0" marL="0" rtl="0" algn="l">
              <a:lnSpc>
                <a:spcPct val="90000"/>
              </a:lnSpc>
              <a:spcBef>
                <a:spcPts val="12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b8df0275c8_0_5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Simple Concurrent Workflow</a:t>
            </a:r>
            <a:endParaRPr/>
          </a:p>
        </p:txBody>
      </p:sp>
      <p:sp>
        <p:nvSpPr>
          <p:cNvPr id="269" name="Google Shape;269;g3b8df0275c8_0_56"/>
          <p:cNvSpPr txBox="1"/>
          <p:nvPr>
            <p:ph idx="1" type="body"/>
          </p:nvPr>
        </p:nvSpPr>
        <p:spPr>
          <a:xfrm>
            <a:off x="838200" y="1825625"/>
            <a:ext cx="85143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800"/>
              </a:spcBef>
              <a:spcAft>
                <a:spcPts val="0"/>
              </a:spcAft>
              <a:buNone/>
            </a:pPr>
            <a:r>
              <a:rPr b="1" lang="en-CA" sz="2900"/>
              <a:t>Fan-in</a:t>
            </a:r>
            <a:endParaRPr b="1" sz="2900"/>
          </a:p>
          <a:p>
            <a:pPr indent="0" lvl="0" marL="0" rtl="0" algn="l">
              <a:lnSpc>
                <a:spcPct val="115000"/>
              </a:lnSpc>
              <a:spcBef>
                <a:spcPts val="1200"/>
              </a:spcBef>
              <a:spcAft>
                <a:spcPts val="0"/>
              </a:spcAft>
              <a:buNone/>
            </a:pPr>
            <a:r>
              <a:rPr b="1" lang="en-CA" sz="2300"/>
              <a:t>Fan-in</a:t>
            </a:r>
            <a:r>
              <a:rPr lang="en-CA" sz="2300"/>
              <a:t> is when </a:t>
            </a:r>
            <a:r>
              <a:rPr b="1" lang="en-CA" sz="2300"/>
              <a:t>multiple parallel results are gathered into a single final task</a:t>
            </a:r>
            <a:r>
              <a:rPr lang="en-CA" sz="2300"/>
              <a:t>.</a:t>
            </a:r>
            <a:endParaRPr sz="2300"/>
          </a:p>
          <a:p>
            <a:pPr indent="-374650" lvl="0" marL="457200" rtl="0" algn="l">
              <a:lnSpc>
                <a:spcPct val="115000"/>
              </a:lnSpc>
              <a:spcBef>
                <a:spcPts val="1200"/>
              </a:spcBef>
              <a:spcAft>
                <a:spcPts val="0"/>
              </a:spcAft>
              <a:buSzPts val="2300"/>
              <a:buChar char="●"/>
            </a:pPr>
            <a:r>
              <a:rPr lang="en-CA" sz="2300"/>
              <a:t>Goal: consolidate results after the concurrent tasks finish.</a:t>
            </a:r>
            <a:endParaRPr sz="2300"/>
          </a:p>
          <a:p>
            <a:pPr indent="0" lvl="0" marL="457200" rtl="0" algn="l">
              <a:lnSpc>
                <a:spcPct val="115000"/>
              </a:lnSpc>
              <a:spcBef>
                <a:spcPts val="1200"/>
              </a:spcBef>
              <a:spcAft>
                <a:spcPts val="0"/>
              </a:spcAft>
              <a:buNone/>
            </a:pPr>
            <a:r>
              <a:t/>
            </a:r>
            <a:endParaRPr b="1" sz="2200"/>
          </a:p>
          <a:p>
            <a:pPr indent="0" lvl="0" marL="0" rtl="0" algn="l">
              <a:lnSpc>
                <a:spcPct val="90000"/>
              </a:lnSpc>
              <a:spcBef>
                <a:spcPts val="12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3" name="Shape 273"/>
        <p:cNvGrpSpPr/>
        <p:nvPr/>
      </p:nvGrpSpPr>
      <p:grpSpPr>
        <a:xfrm>
          <a:off x="0" y="0"/>
          <a:ext cx="0" cy="0"/>
          <a:chOff x="0" y="0"/>
          <a:chExt cx="0" cy="0"/>
        </a:xfrm>
      </p:grpSpPr>
      <p:sp>
        <p:nvSpPr>
          <p:cNvPr id="274" name="Google Shape;274;g3b8df0275c8_0_6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Why is Concurrent Workflow important?</a:t>
            </a:r>
            <a:endParaRPr/>
          </a:p>
        </p:txBody>
      </p:sp>
      <p:sp>
        <p:nvSpPr>
          <p:cNvPr id="275" name="Google Shape;275;g3b8df0275c8_0_6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CA"/>
              <a:t>Better performance and efficiency</a:t>
            </a:r>
            <a:endParaRPr/>
          </a:p>
          <a:p>
            <a:pPr indent="0" lvl="0" marL="228600" rtl="0" algn="l">
              <a:lnSpc>
                <a:spcPct val="90000"/>
              </a:lnSpc>
              <a:spcBef>
                <a:spcPts val="0"/>
              </a:spcBef>
              <a:spcAft>
                <a:spcPts val="0"/>
              </a:spcAft>
              <a:buNone/>
            </a:pPr>
            <a:r>
              <a:rPr lang="en-CA"/>
              <a:t>Processing large volumes of data (Big Data)</a:t>
            </a:r>
            <a:endParaRPr/>
          </a:p>
          <a:p>
            <a:pPr indent="0" lvl="0" marL="228600" rtl="0" algn="l">
              <a:lnSpc>
                <a:spcPct val="90000"/>
              </a:lnSpc>
              <a:spcBef>
                <a:spcPts val="0"/>
              </a:spcBef>
              <a:spcAft>
                <a:spcPts val="0"/>
              </a:spcAft>
              <a:buNone/>
            </a:pPr>
            <a:r>
              <a:rPr lang="en-CA"/>
              <a:t>Distributed model training</a:t>
            </a:r>
            <a:endParaRPr/>
          </a:p>
          <a:p>
            <a:pPr indent="0" lvl="0" marL="228600" rtl="0" algn="l">
              <a:lnSpc>
                <a:spcPct val="90000"/>
              </a:lnSpc>
              <a:spcBef>
                <a:spcPts val="0"/>
              </a:spcBef>
              <a:spcAft>
                <a:spcPts val="0"/>
              </a:spcAft>
              <a:buNone/>
            </a:pPr>
            <a:r>
              <a:rPr lang="en-CA"/>
              <a:t>Real-time inference</a:t>
            </a:r>
            <a:endParaRPr/>
          </a:p>
          <a:p>
            <a:pPr indent="0" lvl="0" marL="228600" rtl="0" algn="l">
              <a:lnSpc>
                <a:spcPct val="90000"/>
              </a:lnSpc>
              <a:spcBef>
                <a:spcPts val="0"/>
              </a:spcBef>
              <a:spcAft>
                <a:spcPts val="0"/>
              </a:spcAft>
              <a:buNone/>
            </a:pPr>
            <a:r>
              <a:rPr lang="en-CA"/>
              <a:t>Orchestration of multiple models or steps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g3b8df0275c8_0_7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CA"/>
              <a:t>Use cases</a:t>
            </a:r>
            <a:endParaRPr/>
          </a:p>
        </p:txBody>
      </p:sp>
      <p:sp>
        <p:nvSpPr>
          <p:cNvPr id="282" name="Google Shape;282;g3b8df0275c8_0_7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CA"/>
              <a:t>Creating </a:t>
            </a:r>
            <a:r>
              <a:rPr lang="en-CA" sz="2400"/>
              <a:t>the workflow which sends the 2 different questions or task to </a:t>
            </a:r>
            <a:r>
              <a:rPr b="1" lang="en-CA" sz="2400"/>
              <a:t>two different agents simultaneously</a:t>
            </a:r>
            <a:r>
              <a:rPr lang="en-CA" sz="2400"/>
              <a:t>.</a:t>
            </a:r>
            <a:endParaRPr sz="2400"/>
          </a:p>
          <a:p>
            <a:pPr indent="0" lvl="0" marL="0" rtl="0" algn="l">
              <a:spcBef>
                <a:spcPts val="1000"/>
              </a:spcBef>
              <a:spcAft>
                <a:spcPts val="0"/>
              </a:spcAft>
              <a:buNone/>
            </a:pPr>
            <a:r>
              <a:t/>
            </a:r>
            <a:endParaRPr sz="2400"/>
          </a:p>
          <a:p>
            <a:pPr indent="0" lvl="0" marL="0" rtl="0" algn="l">
              <a:lnSpc>
                <a:spcPct val="115000"/>
              </a:lnSpc>
              <a:spcBef>
                <a:spcPts val="1200"/>
              </a:spcBef>
              <a:spcAft>
                <a:spcPts val="0"/>
              </a:spcAft>
              <a:buNone/>
            </a:pPr>
            <a:r>
              <a:rPr lang="en-CA" sz="2000"/>
              <a:t>Creating a </a:t>
            </a:r>
            <a:r>
              <a:rPr b="1" lang="en-CA" sz="2000"/>
              <a:t>transaction validator with concurrent workflow</a:t>
            </a:r>
            <a:r>
              <a:rPr lang="en-CA" sz="2000"/>
              <a:t> where you can register agents and invoke 3 agents to validate a transaction based on a transaction history, using statistics to allow or block the transactions, involving geospatial, behavior analysis, and transaction pattern.</a:t>
            </a:r>
            <a:endParaRPr sz="2000"/>
          </a:p>
          <a:p>
            <a:pPr indent="0" lvl="0" marL="0" rtl="0" algn="l">
              <a:spcBef>
                <a:spcPts val="1200"/>
              </a:spcBef>
              <a:spcAft>
                <a:spcPts val="0"/>
              </a:spcAft>
              <a:buNone/>
            </a:pPr>
            <a:r>
              <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b8df0275c8_0_89"/>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Demo</a:t>
            </a:r>
            <a:endParaRPr/>
          </a:p>
        </p:txBody>
      </p:sp>
      <p:sp>
        <p:nvSpPr>
          <p:cNvPr id="289" name="Google Shape;289;g3b8df0275c8_0_89"/>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en-CA"/>
              <a:t>Simple Concurrent Workflow</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b8df0275c8_0_10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Demo</a:t>
            </a:r>
            <a:endParaRPr/>
          </a:p>
        </p:txBody>
      </p:sp>
      <p:sp>
        <p:nvSpPr>
          <p:cNvPr id="296" name="Google Shape;296;g3b8df0275c8_0_10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Font typeface="Arial"/>
              <a:buNone/>
            </a:pPr>
            <a:r>
              <a:rPr lang="en-CA"/>
              <a:t>Transaction Validator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2026-01-12T19:58:18Z</dcterms:created>
  <dc:creator>Medhat Elmasry</dc:creator>
</cp:coreProperties>
</file>