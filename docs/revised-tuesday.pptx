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embeddedFontLst>
    <p:embeddedFont>
      <p:font typeface="Play" pitchFamily="2"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hWZ+TzVBnjONCyU6yKWO/E+J6Yh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501"/>
  </p:normalViewPr>
  <p:slideViewPr>
    <p:cSldViewPr snapToGrid="0">
      <p:cViewPr>
        <p:scale>
          <a:sx n="114" d="100"/>
          <a:sy n="114" d="100"/>
        </p:scale>
        <p:origin x="66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CA"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MZE</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MZE</a:t>
            </a:r>
          </a:p>
          <a:p>
            <a:pPr marL="0" lvl="0" indent="0" algn="l" rtl="0">
              <a:spcBef>
                <a:spcPts val="0"/>
              </a:spcBef>
              <a:spcAft>
                <a:spcPts val="0"/>
              </a:spcAft>
              <a:buNone/>
            </a:pPr>
            <a:endParaRPr dirty="0"/>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MZE</a:t>
            </a:r>
          </a:p>
          <a:p>
            <a:pPr marL="0" lvl="0" indent="0" algn="l" rtl="0">
              <a:spcBef>
                <a:spcPts val="0"/>
              </a:spcBef>
              <a:spcAft>
                <a:spcPts val="0"/>
              </a:spcAft>
              <a:buNone/>
            </a:pPr>
            <a:endParaRPr dirty="0"/>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MZE</a:t>
            </a:r>
          </a:p>
          <a:p>
            <a:pPr marL="0" lvl="0" indent="0" algn="l" rtl="0">
              <a:spcBef>
                <a:spcPts val="0"/>
              </a:spcBef>
              <a:spcAft>
                <a:spcPts val="0"/>
              </a:spcAft>
              <a:buNone/>
            </a:pPr>
            <a:endParaRPr dirty="0"/>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MZE</a:t>
            </a:r>
          </a:p>
          <a:p>
            <a:pPr marL="0" lvl="0" indent="0" algn="l" rtl="0">
              <a:spcBef>
                <a:spcPts val="0"/>
              </a:spcBef>
              <a:spcAft>
                <a:spcPts val="0"/>
              </a:spcAft>
              <a:buNone/>
            </a:pPr>
            <a:endParaRPr dirty="0"/>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MZE</a:t>
            </a:r>
          </a:p>
          <a:p>
            <a:pPr marL="0" lvl="0" indent="0" algn="l" rtl="0">
              <a:spcBef>
                <a:spcPts val="0"/>
              </a:spcBef>
              <a:spcAft>
                <a:spcPts val="0"/>
              </a:spcAft>
              <a:buNone/>
            </a:pPr>
            <a:endParaRPr dirty="0"/>
          </a:p>
        </p:txBody>
      </p:sp>
      <p:sp>
        <p:nvSpPr>
          <p:cNvPr id="126" name="Google Shape;12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MZE</a:t>
            </a:r>
          </a:p>
          <a:p>
            <a:pPr marL="0" lvl="0" indent="0" algn="l" rtl="0">
              <a:spcBef>
                <a:spcPts val="0"/>
              </a:spcBef>
              <a:spcAft>
                <a:spcPts val="0"/>
              </a:spcAft>
              <a:buNone/>
            </a:pPr>
            <a:endParaRPr dirty="0"/>
          </a:p>
        </p:txBody>
      </p:sp>
      <p:sp>
        <p:nvSpPr>
          <p:cNvPr id="132" name="Google Shape;13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MS</a:t>
            </a:r>
            <a:endParaRPr dirty="0"/>
          </a:p>
        </p:txBody>
      </p:sp>
      <p:sp>
        <p:nvSpPr>
          <p:cNvPr id="148" name="Google Shape;1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160" name="Google Shape;16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166" name="Google Shape;16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184" name="Google Shape;18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190" name="Google Shape;19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196" name="Google Shape;19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b8df0275c8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b8df0275c8_0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210" name="Google Shape;210;g3b8df0275c8_0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b8df0275c8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b8df0275c8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217" name="Google Shape;217;g3b8df0275c8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b8df0275c8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b8df0275c8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dirty="0"/>
          </a:p>
        </p:txBody>
      </p:sp>
      <p:sp>
        <p:nvSpPr>
          <p:cNvPr id="224" name="Google Shape;224;g3b8df0275c8_0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CA"/>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using </a:t>
            </a:r>
            <a:r>
              <a:rPr lang="en-CA" sz="1200" b="0" dirty="0" err="1">
                <a:solidFill>
                  <a:schemeClr val="dk1"/>
                </a:solidFill>
                <a:latin typeface="Arial"/>
                <a:ea typeface="Arial"/>
                <a:cs typeface="Arial"/>
                <a:sym typeface="Arial"/>
              </a:rPr>
              <a:t>Microsoft.Agents.AI.Workflows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namespace </a:t>
            </a:r>
            <a:r>
              <a:rPr lang="en-CA" sz="1200" b="0" dirty="0" err="1">
                <a:solidFill>
                  <a:schemeClr val="dk1"/>
                </a:solidFill>
                <a:latin typeface="Arial"/>
                <a:ea typeface="Arial"/>
                <a:cs typeface="Arial"/>
                <a:sym typeface="Arial"/>
              </a:rPr>
              <a:t>WorkflowExecutorsAndEdgesSample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This sample introduces the concepts of executors and edges in a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Workflows are built from executors (processing units) connected by edges (data flow paths).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In this example, we create a simple text processing pipeline that: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1. Takes input text and converts it to uppercase using an </a:t>
            </a:r>
            <a:r>
              <a:rPr lang="en-CA" sz="1200" b="0" dirty="0" err="1">
                <a:solidFill>
                  <a:schemeClr val="dk1"/>
                </a:solidFill>
                <a:latin typeface="Arial"/>
                <a:ea typeface="Arial"/>
                <a:cs typeface="Arial"/>
                <a:sym typeface="Arial"/>
              </a:rPr>
              <a:t>UppercaseExecutor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2. Takes the uppercase text and reverses it using a </a:t>
            </a:r>
            <a:r>
              <a:rPr lang="en-CA" sz="1200" b="0" dirty="0" err="1">
                <a:solidFill>
                  <a:schemeClr val="dk1"/>
                </a:solidFill>
                <a:latin typeface="Arial"/>
                <a:ea typeface="Arial"/>
                <a:cs typeface="Arial"/>
                <a:sym typeface="Arial"/>
              </a:rPr>
              <a:t>ReverseTextExecutor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executors are connected sequentially, so data flows from one to the next in order.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For input "Hello, World!", the workflow produces "!DLROW ,OLLEH".</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static class Program</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private static async Task Main()</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Create the executors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Func&lt;string, string&gt; </a:t>
            </a:r>
            <a:r>
              <a:rPr lang="en-CA" sz="1200" b="0" dirty="0" err="1">
                <a:solidFill>
                  <a:schemeClr val="dk1"/>
                </a:solidFill>
                <a:latin typeface="Arial"/>
                <a:ea typeface="Arial"/>
                <a:cs typeface="Arial"/>
                <a:sym typeface="Arial"/>
              </a:rPr>
              <a:t>uppercaseFunc</a:t>
            </a:r>
            <a:r>
              <a:rPr lang="en-CA" sz="1200" b="0" dirty="0">
                <a:solidFill>
                  <a:schemeClr val="dk1"/>
                </a:solidFill>
                <a:latin typeface="Arial"/>
                <a:ea typeface="Arial"/>
                <a:cs typeface="Arial"/>
                <a:sym typeface="Arial"/>
              </a:rPr>
              <a:t> = s =&gt; </a:t>
            </a:r>
            <a:r>
              <a:rPr lang="en-CA" sz="1200" b="0" dirty="0" err="1">
                <a:solidFill>
                  <a:schemeClr val="dk1"/>
                </a:solidFill>
                <a:latin typeface="Arial"/>
                <a:ea typeface="Arial"/>
                <a:cs typeface="Arial"/>
                <a:sym typeface="Arial"/>
              </a:rPr>
              <a:t>s.ToUpperInvariant</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uppercase = </a:t>
            </a:r>
            <a:r>
              <a:rPr lang="en-CA" sz="1200" b="0" dirty="0" err="1">
                <a:solidFill>
                  <a:schemeClr val="dk1"/>
                </a:solidFill>
                <a:latin typeface="Arial"/>
                <a:ea typeface="Arial"/>
                <a:cs typeface="Arial"/>
                <a:sym typeface="Arial"/>
              </a:rPr>
              <a:t>uppercaseFunc.BindAsExecutor</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UppercaseExecutor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reverse = new();</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Build the workflow by connecting executors sequentially</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WorkflowBuilder</a:t>
            </a:r>
            <a:r>
              <a:rPr lang="en-CA" sz="1200" b="0" dirty="0">
                <a:solidFill>
                  <a:schemeClr val="dk1"/>
                </a:solidFill>
                <a:latin typeface="Arial"/>
                <a:ea typeface="Arial"/>
                <a:cs typeface="Arial"/>
                <a:sym typeface="Arial"/>
              </a:rPr>
              <a:t> builder = new(uppercase);</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builder.AddEdge</a:t>
            </a:r>
            <a:r>
              <a:rPr lang="en-CA" sz="1200" b="0" dirty="0">
                <a:solidFill>
                  <a:schemeClr val="dk1"/>
                </a:solidFill>
                <a:latin typeface="Arial"/>
                <a:ea typeface="Arial"/>
                <a:cs typeface="Arial"/>
                <a:sym typeface="Arial"/>
              </a:rPr>
              <a:t>(uppercase, reverse).</a:t>
            </a:r>
            <a:r>
              <a:rPr lang="en-CA" sz="1200" b="0" dirty="0" err="1">
                <a:solidFill>
                  <a:schemeClr val="dk1"/>
                </a:solidFill>
                <a:latin typeface="Arial"/>
                <a:ea typeface="Arial"/>
                <a:cs typeface="Arial"/>
                <a:sym typeface="Arial"/>
              </a:rPr>
              <a:t>WithOutputFrom</a:t>
            </a:r>
            <a:r>
              <a:rPr lang="en-CA" sz="1200" b="0" dirty="0">
                <a:solidFill>
                  <a:schemeClr val="dk1"/>
                </a:solidFill>
                <a:latin typeface="Arial"/>
                <a:ea typeface="Arial"/>
                <a:cs typeface="Arial"/>
                <a:sym typeface="Arial"/>
              </a:rPr>
              <a:t>(reverse);</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workflow = </a:t>
            </a:r>
            <a:r>
              <a:rPr lang="en-CA" sz="1200" b="0" dirty="0" err="1">
                <a:solidFill>
                  <a:schemeClr val="dk1"/>
                </a:solidFill>
                <a:latin typeface="Arial"/>
                <a:ea typeface="Arial"/>
                <a:cs typeface="Arial"/>
                <a:sym typeface="Arial"/>
              </a:rPr>
              <a:t>builder.Build</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Execute the workflow with input data</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await using Run run = await </a:t>
            </a:r>
            <a:r>
              <a:rPr lang="en-CA" sz="1200" b="0" dirty="0" err="1">
                <a:solidFill>
                  <a:schemeClr val="dk1"/>
                </a:solidFill>
                <a:latin typeface="Arial"/>
                <a:ea typeface="Arial"/>
                <a:cs typeface="Arial"/>
                <a:sym typeface="Arial"/>
              </a:rPr>
              <a:t>InProcessExecution.RunAsync</a:t>
            </a:r>
            <a:r>
              <a:rPr lang="en-CA" sz="1200" b="0" dirty="0">
                <a:solidFill>
                  <a:schemeClr val="dk1"/>
                </a:solidFill>
                <a:latin typeface="Arial"/>
                <a:ea typeface="Arial"/>
                <a:cs typeface="Arial"/>
                <a:sym typeface="Arial"/>
              </a:rPr>
              <a:t>(workflow, "Hello, World!");</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foreach (</a:t>
            </a:r>
            <a:r>
              <a:rPr lang="en-CA" sz="1200" b="0" dirty="0" err="1">
                <a:solidFill>
                  <a:schemeClr val="dk1"/>
                </a:solidFill>
                <a:latin typeface="Arial"/>
                <a:ea typeface="Arial"/>
                <a:cs typeface="Arial"/>
                <a:sym typeface="Arial"/>
              </a:rPr>
              <a:t>WorkflowEvent</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in </a:t>
            </a:r>
            <a:r>
              <a:rPr lang="en-CA" sz="1200" b="0" dirty="0" err="1">
                <a:solidFill>
                  <a:schemeClr val="dk1"/>
                </a:solidFill>
                <a:latin typeface="Arial"/>
                <a:ea typeface="Arial"/>
                <a:cs typeface="Arial"/>
                <a:sym typeface="Arial"/>
              </a:rPr>
              <a:t>run.NewEvents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if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is ExecutorCompletedEvent </a:t>
            </a:r>
            <a:r>
              <a:rPr lang="en-CA" sz="1200" b="0" dirty="0" err="1">
                <a:solidFill>
                  <a:schemeClr val="dk1"/>
                </a:solidFill>
                <a:latin typeface="Arial"/>
                <a:ea typeface="Arial"/>
                <a:cs typeface="Arial"/>
                <a:sym typeface="Arial"/>
              </a:rPr>
              <a:t>executorComplete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Console.WriteLine</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executorComplete.ExecutorId</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executorComplete.Data</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Second executor: reverses the input text and completes the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internal sealed class </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 Executor&lt;string, string&gt;("</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Processes the input message by reversing the text.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name="message"&gt;The input text to reverse&lt;/param&gt;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name="context"&gt;Workflow context for accessing workflow services and adding events&lt;/param&gt;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"&gt;The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 to monitor for cancellation requests.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default is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CancellationToken.None</a:t>
            </a:r>
            <a:r>
              <a:rPr lang="en-CA" sz="1200" b="0" dirty="0">
                <a:solidFill>
                  <a:schemeClr val="dk1"/>
                </a:solidFill>
                <a:latin typeface="Arial"/>
                <a:ea typeface="Arial"/>
                <a:cs typeface="Arial"/>
                <a:sym typeface="Arial"/>
              </a:rPr>
              <a:t>"/&gt;.&lt;/param&gt;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&lt;returns&gt;The input text reversed&lt;/returns&gt;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override </a:t>
            </a:r>
            <a:r>
              <a:rPr lang="en-CA" sz="1200" b="0" dirty="0" err="1">
                <a:solidFill>
                  <a:schemeClr val="dk1"/>
                </a:solidFill>
                <a:latin typeface="Arial"/>
                <a:ea typeface="Arial"/>
                <a:cs typeface="Arial"/>
                <a:sym typeface="Arial"/>
              </a:rPr>
              <a:t>ValueTask</a:t>
            </a:r>
            <a:r>
              <a:rPr lang="en-CA" sz="1200" b="0" dirty="0">
                <a:solidFill>
                  <a:schemeClr val="dk1"/>
                </a:solidFill>
                <a:latin typeface="Arial"/>
                <a:ea typeface="Arial"/>
                <a:cs typeface="Arial"/>
                <a:sym typeface="Arial"/>
              </a:rPr>
              <a:t>&lt;string&gt; HandleAsync(string message, </a:t>
            </a:r>
            <a:r>
              <a:rPr lang="en-CA" sz="1200" b="0" dirty="0" err="1">
                <a:solidFill>
                  <a:schemeClr val="dk1"/>
                </a:solidFill>
                <a:latin typeface="Arial"/>
                <a:ea typeface="Arial"/>
                <a:cs typeface="Arial"/>
                <a:sym typeface="Arial"/>
              </a:rPr>
              <a:t>IWorkflowContext</a:t>
            </a:r>
            <a:r>
              <a:rPr lang="en-CA" sz="1200" b="0" dirty="0">
                <a:solidFill>
                  <a:schemeClr val="dk1"/>
                </a:solidFill>
                <a:latin typeface="Arial"/>
                <a:ea typeface="Arial"/>
                <a:cs typeface="Arial"/>
                <a:sym typeface="Arial"/>
              </a:rPr>
              <a:t> context,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 default)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Because we do not suppress it, the returned result will be yielded as an output from this executor.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return </a:t>
            </a:r>
            <a:r>
              <a:rPr lang="en-CA" sz="1200" b="0" dirty="0" err="1">
                <a:solidFill>
                  <a:schemeClr val="dk1"/>
                </a:solidFill>
                <a:latin typeface="Arial"/>
                <a:ea typeface="Arial"/>
                <a:cs typeface="Arial"/>
                <a:sym typeface="Arial"/>
              </a:rPr>
              <a:t>ValueTask.FromResult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string.Concat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message.Reverse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p:txBody>
      </p:sp>
      <p:sp>
        <p:nvSpPr>
          <p:cNvPr id="231" name="Google Shape;23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8df0275c8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3b8df0275c8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using </a:t>
            </a:r>
            <a:r>
              <a:rPr lang="en-CA" sz="1200" b="0" dirty="0" err="1">
                <a:solidFill>
                  <a:schemeClr val="dk1"/>
                </a:solidFill>
                <a:latin typeface="Arial"/>
                <a:ea typeface="Arial"/>
                <a:cs typeface="Arial"/>
                <a:sym typeface="Arial"/>
              </a:rPr>
              <a:t>Microsoft.Agents.AI.Workflows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namespace </a:t>
            </a:r>
            <a:r>
              <a:rPr lang="en-CA" sz="1200" b="0" dirty="0" err="1">
                <a:solidFill>
                  <a:schemeClr val="dk1"/>
                </a:solidFill>
                <a:latin typeface="Arial"/>
                <a:ea typeface="Arial"/>
                <a:cs typeface="Arial"/>
                <a:sym typeface="Arial"/>
              </a:rPr>
              <a:t>WorkflowExecutorsAndEdgesSample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This sample introduces the concepts of executors and edges in a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Workflows are built from executors (processing units) connected by edges (data flow paths).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In this example, we create a simple text processing pipeline that: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1. Takes input text and converts it to uppercase using an </a:t>
            </a:r>
            <a:r>
              <a:rPr lang="en-CA" sz="1200" b="0" dirty="0" err="1">
                <a:solidFill>
                  <a:schemeClr val="dk1"/>
                </a:solidFill>
                <a:latin typeface="Arial"/>
                <a:ea typeface="Arial"/>
                <a:cs typeface="Arial"/>
                <a:sym typeface="Arial"/>
              </a:rPr>
              <a:t>UppercaseExecutor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2. Takes the uppercase text and reverses it using a </a:t>
            </a:r>
            <a:r>
              <a:rPr lang="en-CA" sz="1200" b="0" dirty="0" err="1">
                <a:solidFill>
                  <a:schemeClr val="dk1"/>
                </a:solidFill>
                <a:latin typeface="Arial"/>
                <a:ea typeface="Arial"/>
                <a:cs typeface="Arial"/>
                <a:sym typeface="Arial"/>
              </a:rPr>
              <a:t>ReverseTextExecutor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executors are connected sequentially, so data flows from one to the next in order.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For input "Hello, World!", the workflow produces "!DLROW ,OLLEH".</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static class Program</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private static async Task Main()</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Create the executors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Func&lt;string, string&gt; </a:t>
            </a:r>
            <a:r>
              <a:rPr lang="en-CA" sz="1200" b="0" dirty="0" err="1">
                <a:solidFill>
                  <a:schemeClr val="dk1"/>
                </a:solidFill>
                <a:latin typeface="Arial"/>
                <a:ea typeface="Arial"/>
                <a:cs typeface="Arial"/>
                <a:sym typeface="Arial"/>
              </a:rPr>
              <a:t>uppercaseFunc</a:t>
            </a:r>
            <a:r>
              <a:rPr lang="en-CA" sz="1200" b="0" dirty="0">
                <a:solidFill>
                  <a:schemeClr val="dk1"/>
                </a:solidFill>
                <a:latin typeface="Arial"/>
                <a:ea typeface="Arial"/>
                <a:cs typeface="Arial"/>
                <a:sym typeface="Arial"/>
              </a:rPr>
              <a:t> = s =&gt; </a:t>
            </a:r>
            <a:r>
              <a:rPr lang="en-CA" sz="1200" b="0" dirty="0" err="1">
                <a:solidFill>
                  <a:schemeClr val="dk1"/>
                </a:solidFill>
                <a:latin typeface="Arial"/>
                <a:ea typeface="Arial"/>
                <a:cs typeface="Arial"/>
                <a:sym typeface="Arial"/>
              </a:rPr>
              <a:t>s.ToUpperInvariant</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uppercase = </a:t>
            </a:r>
            <a:r>
              <a:rPr lang="en-CA" sz="1200" b="0" dirty="0" err="1">
                <a:solidFill>
                  <a:schemeClr val="dk1"/>
                </a:solidFill>
                <a:latin typeface="Arial"/>
                <a:ea typeface="Arial"/>
                <a:cs typeface="Arial"/>
                <a:sym typeface="Arial"/>
              </a:rPr>
              <a:t>uppercaseFunc.BindAsExecutor</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UppercaseExecutor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reverse = new();</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Build the workflow by connecting executors sequentially</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WorkflowBuilder</a:t>
            </a:r>
            <a:r>
              <a:rPr lang="en-CA" sz="1200" b="0" dirty="0">
                <a:solidFill>
                  <a:schemeClr val="dk1"/>
                </a:solidFill>
                <a:latin typeface="Arial"/>
                <a:ea typeface="Arial"/>
                <a:cs typeface="Arial"/>
                <a:sym typeface="Arial"/>
              </a:rPr>
              <a:t> builder = new(uppercase);</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builder.AddEdge</a:t>
            </a:r>
            <a:r>
              <a:rPr lang="en-CA" sz="1200" b="0" dirty="0">
                <a:solidFill>
                  <a:schemeClr val="dk1"/>
                </a:solidFill>
                <a:latin typeface="Arial"/>
                <a:ea typeface="Arial"/>
                <a:cs typeface="Arial"/>
                <a:sym typeface="Arial"/>
              </a:rPr>
              <a:t>(uppercase, reverse).</a:t>
            </a:r>
            <a:r>
              <a:rPr lang="en-CA" sz="1200" b="0" dirty="0" err="1">
                <a:solidFill>
                  <a:schemeClr val="dk1"/>
                </a:solidFill>
                <a:latin typeface="Arial"/>
                <a:ea typeface="Arial"/>
                <a:cs typeface="Arial"/>
                <a:sym typeface="Arial"/>
              </a:rPr>
              <a:t>WithOutputFrom</a:t>
            </a:r>
            <a:r>
              <a:rPr lang="en-CA" sz="1200" b="0" dirty="0">
                <a:solidFill>
                  <a:schemeClr val="dk1"/>
                </a:solidFill>
                <a:latin typeface="Arial"/>
                <a:ea typeface="Arial"/>
                <a:cs typeface="Arial"/>
                <a:sym typeface="Arial"/>
              </a:rPr>
              <a:t>(reverse);</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workflow = </a:t>
            </a:r>
            <a:r>
              <a:rPr lang="en-CA" sz="1200" b="0" dirty="0" err="1">
                <a:solidFill>
                  <a:schemeClr val="dk1"/>
                </a:solidFill>
                <a:latin typeface="Arial"/>
                <a:ea typeface="Arial"/>
                <a:cs typeface="Arial"/>
                <a:sym typeface="Arial"/>
              </a:rPr>
              <a:t>builder.Build</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Execute the workflow with input data</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await using Run run = await </a:t>
            </a:r>
            <a:r>
              <a:rPr lang="en-CA" sz="1200" b="0" dirty="0" err="1">
                <a:solidFill>
                  <a:schemeClr val="dk1"/>
                </a:solidFill>
                <a:latin typeface="Arial"/>
                <a:ea typeface="Arial"/>
                <a:cs typeface="Arial"/>
                <a:sym typeface="Arial"/>
              </a:rPr>
              <a:t>InProcessExecution.RunAsync</a:t>
            </a:r>
            <a:r>
              <a:rPr lang="en-CA" sz="1200" b="0" dirty="0">
                <a:solidFill>
                  <a:schemeClr val="dk1"/>
                </a:solidFill>
                <a:latin typeface="Arial"/>
                <a:ea typeface="Arial"/>
                <a:cs typeface="Arial"/>
                <a:sym typeface="Arial"/>
              </a:rPr>
              <a:t>(workflow, "Hello, World!");</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foreach (</a:t>
            </a:r>
            <a:r>
              <a:rPr lang="en-CA" sz="1200" b="0" dirty="0" err="1">
                <a:solidFill>
                  <a:schemeClr val="dk1"/>
                </a:solidFill>
                <a:latin typeface="Arial"/>
                <a:ea typeface="Arial"/>
                <a:cs typeface="Arial"/>
                <a:sym typeface="Arial"/>
              </a:rPr>
              <a:t>WorkflowEvent</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in </a:t>
            </a:r>
            <a:r>
              <a:rPr lang="en-CA" sz="1200" b="0" dirty="0" err="1">
                <a:solidFill>
                  <a:schemeClr val="dk1"/>
                </a:solidFill>
                <a:latin typeface="Arial"/>
                <a:ea typeface="Arial"/>
                <a:cs typeface="Arial"/>
                <a:sym typeface="Arial"/>
              </a:rPr>
              <a:t>run.NewEvents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if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is ExecutorCompletedEvent </a:t>
            </a:r>
            <a:r>
              <a:rPr lang="en-CA" sz="1200" b="0" dirty="0" err="1">
                <a:solidFill>
                  <a:schemeClr val="dk1"/>
                </a:solidFill>
                <a:latin typeface="Arial"/>
                <a:ea typeface="Arial"/>
                <a:cs typeface="Arial"/>
                <a:sym typeface="Arial"/>
              </a:rPr>
              <a:t>executorComplete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Console.WriteLine</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executorComplete.ExecutorId</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executorComplete.Data</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Second executor: reverses the input text and completes the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internal sealed class </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 Executor&lt;string, string&gt;("</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Processes the input message by reversing the text.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name="message"&gt;The input text to reverse&lt;/param&gt;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name="context"&gt;Workflow context for accessing workflow services and adding events&lt;/param&gt;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"&gt;The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 to monitor for cancellation requests.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default is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CancellationToken.None</a:t>
            </a:r>
            <a:r>
              <a:rPr lang="en-CA" sz="1200" b="0" dirty="0">
                <a:solidFill>
                  <a:schemeClr val="dk1"/>
                </a:solidFill>
                <a:latin typeface="Arial"/>
                <a:ea typeface="Arial"/>
                <a:cs typeface="Arial"/>
                <a:sym typeface="Arial"/>
              </a:rPr>
              <a:t>"/&gt;.&lt;/param&gt;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&lt;returns&gt;The input text reversed&lt;/returns&gt;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override </a:t>
            </a:r>
            <a:r>
              <a:rPr lang="en-CA" sz="1200" b="0" dirty="0" err="1">
                <a:solidFill>
                  <a:schemeClr val="dk1"/>
                </a:solidFill>
                <a:latin typeface="Arial"/>
                <a:ea typeface="Arial"/>
                <a:cs typeface="Arial"/>
                <a:sym typeface="Arial"/>
              </a:rPr>
              <a:t>ValueTask</a:t>
            </a:r>
            <a:r>
              <a:rPr lang="en-CA" sz="1200" b="0" dirty="0">
                <a:solidFill>
                  <a:schemeClr val="dk1"/>
                </a:solidFill>
                <a:latin typeface="Arial"/>
                <a:ea typeface="Arial"/>
                <a:cs typeface="Arial"/>
                <a:sym typeface="Arial"/>
              </a:rPr>
              <a:t>&lt;string&gt; HandleAsync(string message, </a:t>
            </a:r>
            <a:r>
              <a:rPr lang="en-CA" sz="1200" b="0" dirty="0" err="1">
                <a:solidFill>
                  <a:schemeClr val="dk1"/>
                </a:solidFill>
                <a:latin typeface="Arial"/>
                <a:ea typeface="Arial"/>
                <a:cs typeface="Arial"/>
                <a:sym typeface="Arial"/>
              </a:rPr>
              <a:t>IWorkflowContext</a:t>
            </a:r>
            <a:r>
              <a:rPr lang="en-CA" sz="1200" b="0" dirty="0">
                <a:solidFill>
                  <a:schemeClr val="dk1"/>
                </a:solidFill>
                <a:latin typeface="Arial"/>
                <a:ea typeface="Arial"/>
                <a:cs typeface="Arial"/>
                <a:sym typeface="Arial"/>
              </a:rPr>
              <a:t> context,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 default)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Because we do not suppress it, the returned result will be yielded as an output from this executor.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return </a:t>
            </a:r>
            <a:r>
              <a:rPr lang="en-CA" sz="1200" b="0" dirty="0" err="1">
                <a:solidFill>
                  <a:schemeClr val="dk1"/>
                </a:solidFill>
                <a:latin typeface="Arial"/>
                <a:ea typeface="Arial"/>
                <a:cs typeface="Arial"/>
                <a:sym typeface="Arial"/>
              </a:rPr>
              <a:t>ValueTask.FromResult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string.Concat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message.Reverse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p:txBody>
      </p:sp>
      <p:sp>
        <p:nvSpPr>
          <p:cNvPr id="238" name="Google Shape;238;g3b8df0275c8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r>
              <a:rPr lang="en-CA" dirty="0"/>
              <a:t>https://</a:t>
            </a:r>
            <a:r>
              <a:rPr lang="en-CA" dirty="0" err="1"/>
              <a:t>github.com</a:t>
            </a:r>
            <a:r>
              <a:rPr lang="en-CA" dirty="0"/>
              <a:t>/</a:t>
            </a:r>
            <a:r>
              <a:rPr lang="en-CA" dirty="0" err="1"/>
              <a:t>microsoft</a:t>
            </a:r>
            <a:r>
              <a:rPr lang="en-CA" dirty="0"/>
              <a:t>/agent-framework/blob/main/dotnet/samples/</a:t>
            </a:r>
            <a:r>
              <a:rPr lang="en-CA" dirty="0" err="1"/>
              <a:t>GettingStarted</a:t>
            </a:r>
            <a:r>
              <a:rPr lang="en-CA" dirty="0"/>
              <a:t>/Workflows/_Foundational/01_ExecutorsAndEdges/</a:t>
            </a:r>
            <a:r>
              <a:rPr lang="en-CA" dirty="0" err="1"/>
              <a:t>Program.cs</a:t>
            </a:r>
            <a:endParaRPr dirty="0"/>
          </a:p>
        </p:txBody>
      </p:sp>
      <p:sp>
        <p:nvSpPr>
          <p:cNvPr id="245" name="Google Shape;24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b8df0275c8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g3b8df0275c8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r>
              <a:rPr lang="en-CA" dirty="0"/>
              <a:t>https://</a:t>
            </a:r>
            <a:r>
              <a:rPr lang="en-CA" dirty="0" err="1"/>
              <a:t>github.com</a:t>
            </a:r>
            <a:r>
              <a:rPr lang="en-CA" dirty="0"/>
              <a:t>/</a:t>
            </a:r>
            <a:r>
              <a:rPr lang="en-CA" dirty="0" err="1"/>
              <a:t>microsoft</a:t>
            </a:r>
            <a:r>
              <a:rPr lang="en-CA" dirty="0"/>
              <a:t>/agent-framework/blob/main/dotnet/samples/</a:t>
            </a:r>
            <a:r>
              <a:rPr lang="en-CA" dirty="0" err="1"/>
              <a:t>GettingStarted</a:t>
            </a:r>
            <a:r>
              <a:rPr lang="en-CA" dirty="0"/>
              <a:t>/Workflows/_Foundational/01_ExecutorsAndEdges/</a:t>
            </a:r>
            <a:r>
              <a:rPr lang="en-CA" dirty="0" err="1"/>
              <a:t>Program.cs</a:t>
            </a:r>
            <a:endParaRPr dirty="0"/>
          </a:p>
        </p:txBody>
      </p:sp>
      <p:sp>
        <p:nvSpPr>
          <p:cNvPr id="252" name="Google Shape;252;g3b8df0275c8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b8df0275c8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b8df0275c8_0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r>
              <a:rPr lang="en-CA" dirty="0"/>
              <a:t>https://</a:t>
            </a:r>
            <a:r>
              <a:rPr lang="en-CA" dirty="0" err="1"/>
              <a:t>github.com</a:t>
            </a:r>
            <a:r>
              <a:rPr lang="en-CA" dirty="0"/>
              <a:t>/</a:t>
            </a:r>
            <a:r>
              <a:rPr lang="en-CA" dirty="0" err="1"/>
              <a:t>microsoft</a:t>
            </a:r>
            <a:r>
              <a:rPr lang="en-CA" dirty="0"/>
              <a:t>/agent-framework/blob/main/dotnet/samples/</a:t>
            </a:r>
            <a:r>
              <a:rPr lang="en-CA" dirty="0" err="1"/>
              <a:t>GettingStarted</a:t>
            </a:r>
            <a:r>
              <a:rPr lang="en-CA" dirty="0"/>
              <a:t>/Workflows/_Foundational/01_ExecutorsAndEdges/</a:t>
            </a:r>
            <a:r>
              <a:rPr lang="en-CA" dirty="0" err="1"/>
              <a:t>Program.cs</a:t>
            </a:r>
            <a:endParaRPr dirty="0"/>
          </a:p>
        </p:txBody>
      </p:sp>
      <p:sp>
        <p:nvSpPr>
          <p:cNvPr id="260" name="Google Shape;260;g3b8df0275c8_0_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b8df0275c8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b8df0275c8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dirty="0"/>
          </a:p>
          <a:p>
            <a:pPr marL="0" lvl="0" indent="0" algn="l" rtl="0">
              <a:spcBef>
                <a:spcPts val="0"/>
              </a:spcBef>
              <a:spcAft>
                <a:spcPts val="0"/>
              </a:spcAft>
              <a:buNone/>
            </a:pPr>
            <a:endParaRPr lang="en-CA" dirty="0"/>
          </a:p>
          <a:p>
            <a:pPr marL="0" lvl="0" indent="0" algn="l" rtl="0">
              <a:spcBef>
                <a:spcPts val="0"/>
              </a:spcBef>
              <a:spcAft>
                <a:spcPts val="0"/>
              </a:spcAft>
              <a:buNone/>
            </a:pPr>
            <a:r>
              <a:rPr lang="en-CA" dirty="0"/>
              <a:t>https://</a:t>
            </a:r>
            <a:r>
              <a:rPr lang="en-CA" dirty="0" err="1"/>
              <a:t>github.com</a:t>
            </a:r>
            <a:r>
              <a:rPr lang="en-CA" dirty="0"/>
              <a:t>/</a:t>
            </a:r>
            <a:r>
              <a:rPr lang="en-CA" dirty="0" err="1"/>
              <a:t>microsoft</a:t>
            </a:r>
            <a:r>
              <a:rPr lang="en-CA" dirty="0"/>
              <a:t>/agent-framework/blob/main/dotnet/samples/</a:t>
            </a:r>
            <a:r>
              <a:rPr lang="en-CA" dirty="0" err="1"/>
              <a:t>GettingStarted</a:t>
            </a:r>
            <a:r>
              <a:rPr lang="en-CA" dirty="0"/>
              <a:t>/Workflows/_Foundational/01_ExecutorsAndEdges/</a:t>
            </a:r>
            <a:r>
              <a:rPr lang="en-CA" dirty="0" err="1"/>
              <a:t>Program.cs</a:t>
            </a:r>
            <a:endParaRPr dirty="0"/>
          </a:p>
        </p:txBody>
      </p:sp>
      <p:sp>
        <p:nvSpPr>
          <p:cNvPr id="267" name="Google Shape;267;g3b8df0275c8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b8df0275c8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g3b8df0275c8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b8df0275c8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b8df0275c8_0_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3b8df0275c8_0_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b8df0275c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g3b8df0275c8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using </a:t>
            </a:r>
            <a:r>
              <a:rPr lang="en-CA" sz="1200" b="0" dirty="0" err="1">
                <a:solidFill>
                  <a:schemeClr val="dk1"/>
                </a:solidFill>
                <a:latin typeface="Arial"/>
                <a:ea typeface="Arial"/>
                <a:cs typeface="Arial"/>
                <a:sym typeface="Arial"/>
              </a:rPr>
              <a:t>Microsoft.Agents.AI.Workflows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namespace </a:t>
            </a:r>
            <a:r>
              <a:rPr lang="en-CA" sz="1200" b="0" dirty="0" err="1">
                <a:solidFill>
                  <a:schemeClr val="dk1"/>
                </a:solidFill>
                <a:latin typeface="Arial"/>
                <a:ea typeface="Arial"/>
                <a:cs typeface="Arial"/>
                <a:sym typeface="Arial"/>
              </a:rPr>
              <a:t>WorkflowExecutorsAndEdgesSample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This sample introduces the concepts of executors and edges in a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Workflows are built from executors (processing units) connected by edges (data flow paths).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In this example, we create a simple text processing pipeline that: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1. Takes input text and converts it to uppercase using an </a:t>
            </a:r>
            <a:r>
              <a:rPr lang="en-CA" sz="1200" b="0" dirty="0" err="1">
                <a:solidFill>
                  <a:schemeClr val="dk1"/>
                </a:solidFill>
                <a:latin typeface="Arial"/>
                <a:ea typeface="Arial"/>
                <a:cs typeface="Arial"/>
                <a:sym typeface="Arial"/>
              </a:rPr>
              <a:t>UppercaseExecutor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2. Takes the uppercase text and reverses it using a </a:t>
            </a:r>
            <a:r>
              <a:rPr lang="en-CA" sz="1200" b="0" dirty="0" err="1">
                <a:solidFill>
                  <a:schemeClr val="dk1"/>
                </a:solidFill>
                <a:latin typeface="Arial"/>
                <a:ea typeface="Arial"/>
                <a:cs typeface="Arial"/>
                <a:sym typeface="Arial"/>
              </a:rPr>
              <a:t>ReverseTextExecutor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executors are connected sequentially, so data flows from one to the next in order.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For input "Hello, World!", the workflow produces "!DLROW ,OLLEH".</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static class Program</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private static async Task Main()</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Create the executors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Func&lt;string, string&gt; </a:t>
            </a:r>
            <a:r>
              <a:rPr lang="en-CA" sz="1200" b="0" dirty="0" err="1">
                <a:solidFill>
                  <a:schemeClr val="dk1"/>
                </a:solidFill>
                <a:latin typeface="Arial"/>
                <a:ea typeface="Arial"/>
                <a:cs typeface="Arial"/>
                <a:sym typeface="Arial"/>
              </a:rPr>
              <a:t>uppercaseFunc</a:t>
            </a:r>
            <a:r>
              <a:rPr lang="en-CA" sz="1200" b="0" dirty="0">
                <a:solidFill>
                  <a:schemeClr val="dk1"/>
                </a:solidFill>
                <a:latin typeface="Arial"/>
                <a:ea typeface="Arial"/>
                <a:cs typeface="Arial"/>
                <a:sym typeface="Arial"/>
              </a:rPr>
              <a:t> = s =&gt; </a:t>
            </a:r>
            <a:r>
              <a:rPr lang="en-CA" sz="1200" b="0" dirty="0" err="1">
                <a:solidFill>
                  <a:schemeClr val="dk1"/>
                </a:solidFill>
                <a:latin typeface="Arial"/>
                <a:ea typeface="Arial"/>
                <a:cs typeface="Arial"/>
                <a:sym typeface="Arial"/>
              </a:rPr>
              <a:t>s.ToUpperInvariant</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uppercase = </a:t>
            </a:r>
            <a:r>
              <a:rPr lang="en-CA" sz="1200" b="0" dirty="0" err="1">
                <a:solidFill>
                  <a:schemeClr val="dk1"/>
                </a:solidFill>
                <a:latin typeface="Arial"/>
                <a:ea typeface="Arial"/>
                <a:cs typeface="Arial"/>
                <a:sym typeface="Arial"/>
              </a:rPr>
              <a:t>uppercaseFunc.BindAsExecutor</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UppercaseExecutor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reverse = new();</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Build the workflow by connecting executors sequentially</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WorkflowBuilder</a:t>
            </a:r>
            <a:r>
              <a:rPr lang="en-CA" sz="1200" b="0" dirty="0">
                <a:solidFill>
                  <a:schemeClr val="dk1"/>
                </a:solidFill>
                <a:latin typeface="Arial"/>
                <a:ea typeface="Arial"/>
                <a:cs typeface="Arial"/>
                <a:sym typeface="Arial"/>
              </a:rPr>
              <a:t> builder = new(uppercase);</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builder.AddEdge</a:t>
            </a:r>
            <a:r>
              <a:rPr lang="en-CA" sz="1200" b="0" dirty="0">
                <a:solidFill>
                  <a:schemeClr val="dk1"/>
                </a:solidFill>
                <a:latin typeface="Arial"/>
                <a:ea typeface="Arial"/>
                <a:cs typeface="Arial"/>
                <a:sym typeface="Arial"/>
              </a:rPr>
              <a:t>(uppercase, reverse).</a:t>
            </a:r>
            <a:r>
              <a:rPr lang="en-CA" sz="1200" b="0" dirty="0" err="1">
                <a:solidFill>
                  <a:schemeClr val="dk1"/>
                </a:solidFill>
                <a:latin typeface="Arial"/>
                <a:ea typeface="Arial"/>
                <a:cs typeface="Arial"/>
                <a:sym typeface="Arial"/>
              </a:rPr>
              <a:t>WithOutputFrom</a:t>
            </a:r>
            <a:r>
              <a:rPr lang="en-CA" sz="1200" b="0" dirty="0">
                <a:solidFill>
                  <a:schemeClr val="dk1"/>
                </a:solidFill>
                <a:latin typeface="Arial"/>
                <a:ea typeface="Arial"/>
                <a:cs typeface="Arial"/>
                <a:sym typeface="Arial"/>
              </a:rPr>
              <a:t>(reverse);</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workflow = </a:t>
            </a:r>
            <a:r>
              <a:rPr lang="en-CA" sz="1200" b="0" dirty="0" err="1">
                <a:solidFill>
                  <a:schemeClr val="dk1"/>
                </a:solidFill>
                <a:latin typeface="Arial"/>
                <a:ea typeface="Arial"/>
                <a:cs typeface="Arial"/>
                <a:sym typeface="Arial"/>
              </a:rPr>
              <a:t>builder.Build</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Execute the workflow with input data</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await using Run run = await </a:t>
            </a:r>
            <a:r>
              <a:rPr lang="en-CA" sz="1200" b="0" dirty="0" err="1">
                <a:solidFill>
                  <a:schemeClr val="dk1"/>
                </a:solidFill>
                <a:latin typeface="Arial"/>
                <a:ea typeface="Arial"/>
                <a:cs typeface="Arial"/>
                <a:sym typeface="Arial"/>
              </a:rPr>
              <a:t>InProcessExecution.RunAsync</a:t>
            </a:r>
            <a:r>
              <a:rPr lang="en-CA" sz="1200" b="0" dirty="0">
                <a:solidFill>
                  <a:schemeClr val="dk1"/>
                </a:solidFill>
                <a:latin typeface="Arial"/>
                <a:ea typeface="Arial"/>
                <a:cs typeface="Arial"/>
                <a:sym typeface="Arial"/>
              </a:rPr>
              <a:t>(workflow, "Hello, World!");</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foreach (</a:t>
            </a:r>
            <a:r>
              <a:rPr lang="en-CA" sz="1200" b="0" dirty="0" err="1">
                <a:solidFill>
                  <a:schemeClr val="dk1"/>
                </a:solidFill>
                <a:latin typeface="Arial"/>
                <a:ea typeface="Arial"/>
                <a:cs typeface="Arial"/>
                <a:sym typeface="Arial"/>
              </a:rPr>
              <a:t>WorkflowEvent</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in </a:t>
            </a:r>
            <a:r>
              <a:rPr lang="en-CA" sz="1200" b="0" dirty="0" err="1">
                <a:solidFill>
                  <a:schemeClr val="dk1"/>
                </a:solidFill>
                <a:latin typeface="Arial"/>
                <a:ea typeface="Arial"/>
                <a:cs typeface="Arial"/>
                <a:sym typeface="Arial"/>
              </a:rPr>
              <a:t>run.NewEvents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if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is ExecutorCompletedEvent </a:t>
            </a:r>
            <a:r>
              <a:rPr lang="en-CA" sz="1200" b="0" dirty="0" err="1">
                <a:solidFill>
                  <a:schemeClr val="dk1"/>
                </a:solidFill>
                <a:latin typeface="Arial"/>
                <a:ea typeface="Arial"/>
                <a:cs typeface="Arial"/>
                <a:sym typeface="Arial"/>
              </a:rPr>
              <a:t>executorComplete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Console.WriteLine</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executorComplete.ExecutorId</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executorComplete.Data</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Second executor: reverses the input text and completes the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internal sealed class </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 Executor&lt;string, string&gt;("</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Processes the input message by reversing the text.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name="message"&gt;The input text to reverse&lt;/param&gt;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name="context"&gt;Workflow context for accessing workflow services and adding events&lt;/param&gt;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"&gt;The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 to monitor for cancellation requests.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default is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CancellationToken.None</a:t>
            </a:r>
            <a:r>
              <a:rPr lang="en-CA" sz="1200" b="0" dirty="0">
                <a:solidFill>
                  <a:schemeClr val="dk1"/>
                </a:solidFill>
                <a:latin typeface="Arial"/>
                <a:ea typeface="Arial"/>
                <a:cs typeface="Arial"/>
                <a:sym typeface="Arial"/>
              </a:rPr>
              <a:t>"/&gt;.&lt;/param&gt;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&lt;returns&gt;The input text reversed&lt;/returns&gt;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override </a:t>
            </a:r>
            <a:r>
              <a:rPr lang="en-CA" sz="1200" b="0" dirty="0" err="1">
                <a:solidFill>
                  <a:schemeClr val="dk1"/>
                </a:solidFill>
                <a:latin typeface="Arial"/>
                <a:ea typeface="Arial"/>
                <a:cs typeface="Arial"/>
                <a:sym typeface="Arial"/>
              </a:rPr>
              <a:t>ValueTask</a:t>
            </a:r>
            <a:r>
              <a:rPr lang="en-CA" sz="1200" b="0" dirty="0">
                <a:solidFill>
                  <a:schemeClr val="dk1"/>
                </a:solidFill>
                <a:latin typeface="Arial"/>
                <a:ea typeface="Arial"/>
                <a:cs typeface="Arial"/>
                <a:sym typeface="Arial"/>
              </a:rPr>
              <a:t>&lt;string&gt; HandleAsync(string message, </a:t>
            </a:r>
            <a:r>
              <a:rPr lang="en-CA" sz="1200" b="0" dirty="0" err="1">
                <a:solidFill>
                  <a:schemeClr val="dk1"/>
                </a:solidFill>
                <a:latin typeface="Arial"/>
                <a:ea typeface="Arial"/>
                <a:cs typeface="Arial"/>
                <a:sym typeface="Arial"/>
              </a:rPr>
              <a:t>IWorkflowContext</a:t>
            </a:r>
            <a:r>
              <a:rPr lang="en-CA" sz="1200" b="0" dirty="0">
                <a:solidFill>
                  <a:schemeClr val="dk1"/>
                </a:solidFill>
                <a:latin typeface="Arial"/>
                <a:ea typeface="Arial"/>
                <a:cs typeface="Arial"/>
                <a:sym typeface="Arial"/>
              </a:rPr>
              <a:t> context,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 default)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Because we do not suppress it, the returned result will be yielded as an output from this executor.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return </a:t>
            </a:r>
            <a:r>
              <a:rPr lang="en-CA" sz="1200" b="0" dirty="0" err="1">
                <a:solidFill>
                  <a:schemeClr val="dk1"/>
                </a:solidFill>
                <a:latin typeface="Arial"/>
                <a:ea typeface="Arial"/>
                <a:cs typeface="Arial"/>
                <a:sym typeface="Arial"/>
              </a:rPr>
              <a:t>ValueTask.FromResult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string.Concat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message.Reverse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p:txBody>
      </p:sp>
      <p:sp>
        <p:nvSpPr>
          <p:cNvPr id="287" name="Google Shape;287;g3b8df0275c8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b8df0275c8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g3b8df0275c8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endParaRPr lang="en-CA"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using </a:t>
            </a:r>
            <a:r>
              <a:rPr lang="en-CA" sz="1200" b="0" dirty="0" err="1">
                <a:solidFill>
                  <a:schemeClr val="dk1"/>
                </a:solidFill>
                <a:latin typeface="Arial"/>
                <a:ea typeface="Arial"/>
                <a:cs typeface="Arial"/>
                <a:sym typeface="Arial"/>
              </a:rPr>
              <a:t>Microsoft.Agents.AI.Workflows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namespace </a:t>
            </a:r>
            <a:r>
              <a:rPr lang="en-CA" sz="1200" b="0" dirty="0" err="1">
                <a:solidFill>
                  <a:schemeClr val="dk1"/>
                </a:solidFill>
                <a:latin typeface="Arial"/>
                <a:ea typeface="Arial"/>
                <a:cs typeface="Arial"/>
                <a:sym typeface="Arial"/>
              </a:rPr>
              <a:t>WorkflowExecutorsAndEdgesSample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This sample introduces the concepts of executors and edges in a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Workflows are built from executors (processing units) connected by edges (data flow paths).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In this example, we create a simple text processing pipeline that: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1. Takes input text and converts it to uppercase using an </a:t>
            </a:r>
            <a:r>
              <a:rPr lang="en-CA" sz="1200" b="0" dirty="0" err="1">
                <a:solidFill>
                  <a:schemeClr val="dk1"/>
                </a:solidFill>
                <a:latin typeface="Arial"/>
                <a:ea typeface="Arial"/>
                <a:cs typeface="Arial"/>
                <a:sym typeface="Arial"/>
              </a:rPr>
              <a:t>UppercaseExecutor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2. Takes the uppercase text and reverses it using a </a:t>
            </a:r>
            <a:r>
              <a:rPr lang="en-CA" sz="1200" b="0" dirty="0" err="1">
                <a:solidFill>
                  <a:schemeClr val="dk1"/>
                </a:solidFill>
                <a:latin typeface="Arial"/>
                <a:ea typeface="Arial"/>
                <a:cs typeface="Arial"/>
                <a:sym typeface="Arial"/>
              </a:rPr>
              <a:t>ReverseTextExecutor</a:t>
            </a: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executors are connected sequentially, so data flows from one to the next in order.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For input "Hello, World!", the workflow produces "!DLROW ,OLLEH".</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static class Program</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private static async Task Main()</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Create the executors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Func&lt;string, string&gt; </a:t>
            </a:r>
            <a:r>
              <a:rPr lang="en-CA" sz="1200" b="0" dirty="0" err="1">
                <a:solidFill>
                  <a:schemeClr val="dk1"/>
                </a:solidFill>
                <a:latin typeface="Arial"/>
                <a:ea typeface="Arial"/>
                <a:cs typeface="Arial"/>
                <a:sym typeface="Arial"/>
              </a:rPr>
              <a:t>uppercaseFunc</a:t>
            </a:r>
            <a:r>
              <a:rPr lang="en-CA" sz="1200" b="0" dirty="0">
                <a:solidFill>
                  <a:schemeClr val="dk1"/>
                </a:solidFill>
                <a:latin typeface="Arial"/>
                <a:ea typeface="Arial"/>
                <a:cs typeface="Arial"/>
                <a:sym typeface="Arial"/>
              </a:rPr>
              <a:t> = s =&gt; </a:t>
            </a:r>
            <a:r>
              <a:rPr lang="en-CA" sz="1200" b="0" dirty="0" err="1">
                <a:solidFill>
                  <a:schemeClr val="dk1"/>
                </a:solidFill>
                <a:latin typeface="Arial"/>
                <a:ea typeface="Arial"/>
                <a:cs typeface="Arial"/>
                <a:sym typeface="Arial"/>
              </a:rPr>
              <a:t>s.ToUpperInvariant</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uppercase = </a:t>
            </a:r>
            <a:r>
              <a:rPr lang="en-CA" sz="1200" b="0" dirty="0" err="1">
                <a:solidFill>
                  <a:schemeClr val="dk1"/>
                </a:solidFill>
                <a:latin typeface="Arial"/>
                <a:ea typeface="Arial"/>
                <a:cs typeface="Arial"/>
                <a:sym typeface="Arial"/>
              </a:rPr>
              <a:t>uppercaseFunc.BindAsExecutor</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UppercaseExecutor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reverse = new();</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Build the workflow by connecting executors sequentially</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WorkflowBuilder</a:t>
            </a:r>
            <a:r>
              <a:rPr lang="en-CA" sz="1200" b="0" dirty="0">
                <a:solidFill>
                  <a:schemeClr val="dk1"/>
                </a:solidFill>
                <a:latin typeface="Arial"/>
                <a:ea typeface="Arial"/>
                <a:cs typeface="Arial"/>
                <a:sym typeface="Arial"/>
              </a:rPr>
              <a:t> builder = new(uppercase);</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builder.AddEdge</a:t>
            </a:r>
            <a:r>
              <a:rPr lang="en-CA" sz="1200" b="0" dirty="0">
                <a:solidFill>
                  <a:schemeClr val="dk1"/>
                </a:solidFill>
                <a:latin typeface="Arial"/>
                <a:ea typeface="Arial"/>
                <a:cs typeface="Arial"/>
                <a:sym typeface="Arial"/>
              </a:rPr>
              <a:t>(uppercase, reverse).</a:t>
            </a:r>
            <a:r>
              <a:rPr lang="en-CA" sz="1200" b="0" dirty="0" err="1">
                <a:solidFill>
                  <a:schemeClr val="dk1"/>
                </a:solidFill>
                <a:latin typeface="Arial"/>
                <a:ea typeface="Arial"/>
                <a:cs typeface="Arial"/>
                <a:sym typeface="Arial"/>
              </a:rPr>
              <a:t>WithOutputFrom</a:t>
            </a:r>
            <a:r>
              <a:rPr lang="en-CA" sz="1200" b="0" dirty="0">
                <a:solidFill>
                  <a:schemeClr val="dk1"/>
                </a:solidFill>
                <a:latin typeface="Arial"/>
                <a:ea typeface="Arial"/>
                <a:cs typeface="Arial"/>
                <a:sym typeface="Arial"/>
              </a:rPr>
              <a:t>(reverse);</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var workflow = </a:t>
            </a:r>
            <a:r>
              <a:rPr lang="en-CA" sz="1200" b="0" dirty="0" err="1">
                <a:solidFill>
                  <a:schemeClr val="dk1"/>
                </a:solidFill>
                <a:latin typeface="Arial"/>
                <a:ea typeface="Arial"/>
                <a:cs typeface="Arial"/>
                <a:sym typeface="Arial"/>
              </a:rPr>
              <a:t>builder.Build</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Execute the workflow with input data</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await using Run run = await </a:t>
            </a:r>
            <a:r>
              <a:rPr lang="en-CA" sz="1200" b="0" dirty="0" err="1">
                <a:solidFill>
                  <a:schemeClr val="dk1"/>
                </a:solidFill>
                <a:latin typeface="Arial"/>
                <a:ea typeface="Arial"/>
                <a:cs typeface="Arial"/>
                <a:sym typeface="Arial"/>
              </a:rPr>
              <a:t>InProcessExecution.RunAsync</a:t>
            </a:r>
            <a:r>
              <a:rPr lang="en-CA" sz="1200" b="0" dirty="0">
                <a:solidFill>
                  <a:schemeClr val="dk1"/>
                </a:solidFill>
                <a:latin typeface="Arial"/>
                <a:ea typeface="Arial"/>
                <a:cs typeface="Arial"/>
                <a:sym typeface="Arial"/>
              </a:rPr>
              <a:t>(workflow, "Hello, World!");</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foreach (</a:t>
            </a:r>
            <a:r>
              <a:rPr lang="en-CA" sz="1200" b="0" dirty="0" err="1">
                <a:solidFill>
                  <a:schemeClr val="dk1"/>
                </a:solidFill>
                <a:latin typeface="Arial"/>
                <a:ea typeface="Arial"/>
                <a:cs typeface="Arial"/>
                <a:sym typeface="Arial"/>
              </a:rPr>
              <a:t>WorkflowEvent</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in </a:t>
            </a:r>
            <a:r>
              <a:rPr lang="en-CA" sz="1200" b="0" dirty="0" err="1">
                <a:solidFill>
                  <a:schemeClr val="dk1"/>
                </a:solidFill>
                <a:latin typeface="Arial"/>
                <a:ea typeface="Arial"/>
                <a:cs typeface="Arial"/>
                <a:sym typeface="Arial"/>
              </a:rPr>
              <a:t>run.NewEvents</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if (</a:t>
            </a:r>
            <a:r>
              <a:rPr lang="en-CA" sz="1200" b="0" dirty="0" err="1">
                <a:solidFill>
                  <a:schemeClr val="dk1"/>
                </a:solidFill>
                <a:latin typeface="Arial"/>
                <a:ea typeface="Arial"/>
                <a:cs typeface="Arial"/>
                <a:sym typeface="Arial"/>
              </a:rPr>
              <a:t>evt</a:t>
            </a:r>
            <a:r>
              <a:rPr lang="en-CA" sz="1200" b="0" dirty="0">
                <a:solidFill>
                  <a:schemeClr val="dk1"/>
                </a:solidFill>
                <a:latin typeface="Arial"/>
                <a:ea typeface="Arial"/>
                <a:cs typeface="Arial"/>
                <a:sym typeface="Arial"/>
              </a:rPr>
              <a:t> is ExecutorCompletedEvent </a:t>
            </a:r>
            <a:r>
              <a:rPr lang="en-CA" sz="1200" b="0" dirty="0" err="1">
                <a:solidFill>
                  <a:schemeClr val="dk1"/>
                </a:solidFill>
                <a:latin typeface="Arial"/>
                <a:ea typeface="Arial"/>
                <a:cs typeface="Arial"/>
                <a:sym typeface="Arial"/>
              </a:rPr>
              <a:t>executorComplete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err="1">
                <a:solidFill>
                  <a:schemeClr val="dk1"/>
                </a:solidFill>
                <a:latin typeface="Arial"/>
                <a:ea typeface="Arial"/>
                <a:cs typeface="Arial"/>
                <a:sym typeface="Arial"/>
              </a:rPr>
              <a:t>Console.WriteLine</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executorComplete.ExecutorId</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executorComplete.Data</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br>
              <a:rPr lang="en-CA" sz="1200" b="0" dirty="0">
                <a:solidFill>
                  <a:schemeClr val="dk1"/>
                </a:solidFill>
                <a:latin typeface="Arial"/>
                <a:ea typeface="Arial"/>
                <a:cs typeface="Arial"/>
                <a:sym typeface="Arial"/>
              </a:rPr>
            </a:br>
            <a:endParaRPr sz="1200" b="0" dirty="0">
              <a:solidFill>
                <a:schemeClr val="dk1"/>
              </a:solidFill>
              <a:latin typeface="Arial"/>
              <a:ea typeface="Arial"/>
              <a:cs typeface="Arial"/>
              <a:sym typeface="Arial"/>
            </a:endParaRPr>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Second executor: reverses the input text and completes the workflow.</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internal sealed class </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 : Executor&lt;string, string&gt;("</a:t>
            </a:r>
            <a:r>
              <a:rPr lang="en-CA" sz="1200" b="0" dirty="0" err="1">
                <a:solidFill>
                  <a:schemeClr val="dk1"/>
                </a:solidFill>
                <a:latin typeface="Arial"/>
                <a:ea typeface="Arial"/>
                <a:cs typeface="Arial"/>
                <a:sym typeface="Arial"/>
              </a:rPr>
              <a:t>ReverseTextExecutor</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Processes the input message by reversing the text.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&lt;/summary&gt;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name="message"&gt;The input text to reverse&lt;/param&gt;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name="context"&gt;Workflow context for accessing workflow services and adding events&lt;/param&gt;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&lt;param name="</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"&gt;The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"/&gt; to monitor for cancellation requests.</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The default is &lt;see </a:t>
            </a:r>
            <a:r>
              <a:rPr lang="en-CA" sz="1200" b="0" dirty="0" err="1">
                <a:solidFill>
                  <a:schemeClr val="dk1"/>
                </a:solidFill>
                <a:latin typeface="Arial"/>
                <a:ea typeface="Arial"/>
                <a:cs typeface="Arial"/>
                <a:sym typeface="Arial"/>
              </a:rPr>
              <a:t>cref</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CancellationToken.None</a:t>
            </a:r>
            <a:r>
              <a:rPr lang="en-CA" sz="1200" b="0" dirty="0">
                <a:solidFill>
                  <a:schemeClr val="dk1"/>
                </a:solidFill>
                <a:latin typeface="Arial"/>
                <a:ea typeface="Arial"/>
                <a:cs typeface="Arial"/>
                <a:sym typeface="Arial"/>
              </a:rPr>
              <a:t>"/&gt;.&lt;/param&gt;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&lt;returns&gt;The input text reversed&lt;/returns&gt;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public override </a:t>
            </a:r>
            <a:r>
              <a:rPr lang="en-CA" sz="1200" b="0" dirty="0" err="1">
                <a:solidFill>
                  <a:schemeClr val="dk1"/>
                </a:solidFill>
                <a:latin typeface="Arial"/>
                <a:ea typeface="Arial"/>
                <a:cs typeface="Arial"/>
                <a:sym typeface="Arial"/>
              </a:rPr>
              <a:t>ValueTask</a:t>
            </a:r>
            <a:r>
              <a:rPr lang="en-CA" sz="1200" b="0" dirty="0">
                <a:solidFill>
                  <a:schemeClr val="dk1"/>
                </a:solidFill>
                <a:latin typeface="Arial"/>
                <a:ea typeface="Arial"/>
                <a:cs typeface="Arial"/>
                <a:sym typeface="Arial"/>
              </a:rPr>
              <a:t>&lt;string&gt; HandleAsync(string message, </a:t>
            </a:r>
            <a:r>
              <a:rPr lang="en-CA" sz="1200" b="0" dirty="0" err="1">
                <a:solidFill>
                  <a:schemeClr val="dk1"/>
                </a:solidFill>
                <a:latin typeface="Arial"/>
                <a:ea typeface="Arial"/>
                <a:cs typeface="Arial"/>
                <a:sym typeface="Arial"/>
              </a:rPr>
              <a:t>IWorkflowContext</a:t>
            </a:r>
            <a:r>
              <a:rPr lang="en-CA" sz="1200" b="0" dirty="0">
                <a:solidFill>
                  <a:schemeClr val="dk1"/>
                </a:solidFill>
                <a:latin typeface="Arial"/>
                <a:ea typeface="Arial"/>
                <a:cs typeface="Arial"/>
                <a:sym typeface="Arial"/>
              </a:rPr>
              <a:t> context,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a:t>
            </a:r>
            <a:r>
              <a:rPr lang="en-CA" sz="1200" b="0" dirty="0" err="1">
                <a:solidFill>
                  <a:schemeClr val="dk1"/>
                </a:solidFill>
                <a:latin typeface="Arial"/>
                <a:ea typeface="Arial"/>
                <a:cs typeface="Arial"/>
                <a:sym typeface="Arial"/>
              </a:rPr>
              <a:t>cancellationToken</a:t>
            </a:r>
            <a:r>
              <a:rPr lang="en-CA" sz="1200" b="0" dirty="0">
                <a:solidFill>
                  <a:schemeClr val="dk1"/>
                </a:solidFill>
                <a:latin typeface="Arial"/>
                <a:ea typeface="Arial"/>
                <a:cs typeface="Arial"/>
                <a:sym typeface="Arial"/>
              </a:rPr>
              <a:t> = default)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 Because we do not suppress it, the returned result will be yielded as an output from this executor.</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return </a:t>
            </a:r>
            <a:r>
              <a:rPr lang="en-CA" sz="1200" b="0" dirty="0" err="1">
                <a:solidFill>
                  <a:schemeClr val="dk1"/>
                </a:solidFill>
                <a:latin typeface="Arial"/>
                <a:ea typeface="Arial"/>
                <a:cs typeface="Arial"/>
                <a:sym typeface="Arial"/>
              </a:rPr>
              <a:t>ValueTask.FromResult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string.Concat</a:t>
            </a:r>
            <a:r>
              <a:rPr lang="en-CA" sz="1200" b="0" dirty="0">
                <a:solidFill>
                  <a:schemeClr val="dk1"/>
                </a:solidFill>
                <a:latin typeface="Arial"/>
                <a:ea typeface="Arial"/>
                <a:cs typeface="Arial"/>
                <a:sym typeface="Arial"/>
              </a:rPr>
              <a:t>(</a:t>
            </a:r>
            <a:r>
              <a:rPr lang="en-CA" sz="1200" b="0" dirty="0" err="1">
                <a:solidFill>
                  <a:schemeClr val="dk1"/>
                </a:solidFill>
                <a:latin typeface="Arial"/>
                <a:ea typeface="Arial"/>
                <a:cs typeface="Arial"/>
                <a:sym typeface="Arial"/>
              </a:rPr>
              <a:t>message.Reverse</a:t>
            </a: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CA" sz="1200" b="0" dirty="0">
                <a:solidFill>
                  <a:schemeClr val="dk1"/>
                </a:solidFill>
                <a:latin typeface="Arial"/>
                <a:ea typeface="Arial"/>
                <a:cs typeface="Arial"/>
                <a:sym typeface="Arial"/>
              </a:rPr>
              <a:t>}</a:t>
            </a:r>
            <a:endParaRPr dirty="0"/>
          </a:p>
        </p:txBody>
      </p:sp>
      <p:sp>
        <p:nvSpPr>
          <p:cNvPr id="294" name="Google Shape;294;g3b8df0275c8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CA"/>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MS</a:t>
            </a:r>
          </a:p>
          <a:p>
            <a:endParaRPr lang="en-US"/>
          </a:p>
          <a:p>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Arial"/>
                <a:ea typeface="Arial"/>
                <a:cs typeface="Arial"/>
                <a:sym typeface="Arial"/>
              </a:rPr>
              <a:t>31</a:t>
            </a:fld>
            <a:endParaRPr lang="en-CA"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1671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6"/>
        <p:cNvGrpSpPr/>
        <p:nvPr/>
      </p:nvGrpSpPr>
      <p:grpSpPr>
        <a:xfrm>
          <a:off x="0" y="0"/>
          <a:ext cx="0" cy="0"/>
          <a:chOff x="0" y="0"/>
          <a:chExt cx="0" cy="0"/>
        </a:xfrm>
      </p:grpSpPr>
      <p:sp>
        <p:nvSpPr>
          <p:cNvPr id="27" name="Google Shape;27;p3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 name="Google Shape;29;p3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1" name="Google Shape;31;p3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
        <p:nvSpPr>
          <p:cNvPr id="42" name="Google Shape;4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3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8" name="Google Shape;4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0"/>
          <p:cNvSpPr>
            <a:spLocks noGrp="1"/>
          </p:cNvSpPr>
          <p:nvPr>
            <p:ph type="pic" idx="2"/>
          </p:nvPr>
        </p:nvSpPr>
        <p:spPr>
          <a:xfrm>
            <a:off x="5183188" y="987425"/>
            <a:ext cx="6172200" cy="4873625"/>
          </a:xfrm>
          <a:prstGeom prst="rect">
            <a:avLst/>
          </a:prstGeom>
          <a:noFill/>
          <a:ln>
            <a:noFill/>
          </a:ln>
        </p:spPr>
      </p:sp>
      <p:sp>
        <p:nvSpPr>
          <p:cNvPr id="68" name="Google Shape;68;p4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microsoft/autogen" TargetMode="External"/><Relationship Id="rId5" Type="http://schemas.openxmlformats.org/officeDocument/2006/relationships/hyperlink" Target="https://github.com/microsoft/semantic-kernel" TargetMode="External"/><Relationship Id="rId4" Type="http://schemas.openxmlformats.org/officeDocument/2006/relationships/hyperlink" Target="https://github.com/microsoft/agent-framework"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33121"/>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r>
              <a:rPr lang="en-CA"/>
              <a:t>Microsoft Agent Framework Workshop</a:t>
            </a:r>
            <a:endParaRPr/>
          </a:p>
        </p:txBody>
      </p:sp>
      <p:sp>
        <p:nvSpPr>
          <p:cNvPr id="89" name="Google Shape;8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a:spLocks noGrp="1"/>
          </p:cNvSpPr>
          <p:nvPr>
            <p:ph type="title"/>
          </p:nvPr>
        </p:nvSpPr>
        <p:spPr>
          <a:xfrm>
            <a:off x="1578043" y="590062"/>
            <a:ext cx="9597618" cy="185740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Play"/>
              <a:buNone/>
            </a:pPr>
            <a:r>
              <a:rPr lang="en-CA" sz="6000">
                <a:latin typeface="Play"/>
                <a:ea typeface="Play"/>
                <a:cs typeface="Play"/>
                <a:sym typeface="Play"/>
              </a:rPr>
              <a:t>What is Microsoft Agent Framework?</a:t>
            </a:r>
            <a:endParaRPr sz="4800"/>
          </a:p>
        </p:txBody>
      </p:sp>
      <p:pic>
        <p:nvPicPr>
          <p:cNvPr id="95" name="Google Shape;95;p2"/>
          <p:cNvPicPr preferRelativeResize="0"/>
          <p:nvPr/>
        </p:nvPicPr>
        <p:blipFill rotWithShape="1">
          <a:blip r:embed="rId3">
            <a:alphaModFix/>
          </a:blip>
          <a:srcRect/>
          <a:stretch/>
        </p:blipFill>
        <p:spPr>
          <a:xfrm>
            <a:off x="8152291" y="920555"/>
            <a:ext cx="4039709" cy="4039709"/>
          </a:xfrm>
          <a:prstGeom prst="rect">
            <a:avLst/>
          </a:prstGeom>
          <a:noFill/>
          <a:ln>
            <a:noFill/>
          </a:ln>
        </p:spPr>
      </p:pic>
      <p:sp>
        <p:nvSpPr>
          <p:cNvPr id="96" name="Google Shape;96;p2"/>
          <p:cNvSpPr txBox="1"/>
          <p:nvPr/>
        </p:nvSpPr>
        <p:spPr>
          <a:xfrm>
            <a:off x="1923389" y="5855821"/>
            <a:ext cx="970612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3200" b="0" i="0" u="sng" strike="noStrike" cap="none">
                <a:solidFill>
                  <a:srgbClr val="3A7D22"/>
                </a:solidFill>
                <a:latin typeface="Arial"/>
                <a:ea typeface="Arial"/>
                <a:cs typeface="Arial"/>
                <a:sym typeface="Arial"/>
                <a:hlinkClick r:id="rId4">
                  <a:extLst>
                    <a:ext uri="{A12FA001-AC4F-418D-AE19-62706E023703}">
                      <ahyp:hlinkClr xmlns:ahyp="http://schemas.microsoft.com/office/drawing/2018/hyperlinkcolor" val="tx"/>
                    </a:ext>
                  </a:extLst>
                </a:hlinkClick>
              </a:rPr>
              <a:t>https://github.com/microsoft/agent-framework</a:t>
            </a:r>
            <a:r>
              <a:rPr lang="en-CA" sz="3200" b="0" i="0" u="none" strike="noStrike" cap="none">
                <a:solidFill>
                  <a:srgbClr val="3A7D22"/>
                </a:solidFill>
                <a:latin typeface="Arial"/>
                <a:ea typeface="Arial"/>
                <a:cs typeface="Arial"/>
                <a:sym typeface="Arial"/>
              </a:rPr>
              <a:t> </a:t>
            </a:r>
            <a:endParaRPr/>
          </a:p>
        </p:txBody>
      </p:sp>
      <p:sp>
        <p:nvSpPr>
          <p:cNvPr id="97" name="Google Shape;97;p2"/>
          <p:cNvSpPr txBox="1"/>
          <p:nvPr/>
        </p:nvSpPr>
        <p:spPr>
          <a:xfrm>
            <a:off x="1856000" y="2685275"/>
            <a:ext cx="6621000" cy="247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CA" sz="1900">
                <a:solidFill>
                  <a:schemeClr val="dk1"/>
                </a:solidFill>
                <a:highlight>
                  <a:schemeClr val="lt1"/>
                </a:highlight>
                <a:uFill>
                  <a:noFill/>
                </a:uFill>
                <a:hlinkClick r:id="rId4">
                  <a:extLst>
                    <a:ext uri="{A12FA001-AC4F-418D-AE19-62706E023703}">
                      <ahyp:hlinkClr xmlns:ahyp="http://schemas.microsoft.com/office/drawing/2018/hyperlinkcolor" val="tx"/>
                    </a:ext>
                  </a:extLst>
                </a:hlinkClick>
              </a:rPr>
              <a:t>Microsoft Agent Framework</a:t>
            </a:r>
            <a:r>
              <a:rPr lang="en-CA" sz="1900">
                <a:solidFill>
                  <a:schemeClr val="dk1"/>
                </a:solidFill>
                <a:highlight>
                  <a:schemeClr val="lt1"/>
                </a:highlight>
              </a:rPr>
              <a:t> is an open-source development kit for building AI agents and multi-agent workflows for .NET and Python. It brings together and extends ideas from </a:t>
            </a:r>
            <a:r>
              <a:rPr lang="en-CA" sz="1900">
                <a:solidFill>
                  <a:schemeClr val="dk1"/>
                </a:solidFill>
                <a:highlight>
                  <a:schemeClr val="lt1"/>
                </a:highlight>
                <a:uFill>
                  <a:noFill/>
                </a:uFill>
                <a:hlinkClick r:id="rId5">
                  <a:extLst>
                    <a:ext uri="{A12FA001-AC4F-418D-AE19-62706E023703}">
                      <ahyp:hlinkClr xmlns:ahyp="http://schemas.microsoft.com/office/drawing/2018/hyperlinkcolor" val="tx"/>
                    </a:ext>
                  </a:extLst>
                </a:hlinkClick>
              </a:rPr>
              <a:t>Semantic Kernel</a:t>
            </a:r>
            <a:r>
              <a:rPr lang="en-CA" sz="1900">
                <a:solidFill>
                  <a:schemeClr val="dk1"/>
                </a:solidFill>
                <a:highlight>
                  <a:schemeClr val="lt1"/>
                </a:highlight>
              </a:rPr>
              <a:t> and </a:t>
            </a:r>
            <a:r>
              <a:rPr lang="en-CA" sz="1900">
                <a:solidFill>
                  <a:schemeClr val="dk1"/>
                </a:solidFill>
                <a:highlight>
                  <a:schemeClr val="lt1"/>
                </a:highlight>
                <a:uFill>
                  <a:noFill/>
                </a:uFill>
                <a:hlinkClick r:id="rId6">
                  <a:extLst>
                    <a:ext uri="{A12FA001-AC4F-418D-AE19-62706E023703}">
                      <ahyp:hlinkClr xmlns:ahyp="http://schemas.microsoft.com/office/drawing/2018/hyperlinkcolor" val="tx"/>
                    </a:ext>
                  </a:extLst>
                </a:hlinkClick>
              </a:rPr>
              <a:t>AutoGen</a:t>
            </a:r>
            <a:r>
              <a:rPr lang="en-CA" sz="1900">
                <a:solidFill>
                  <a:schemeClr val="dk1"/>
                </a:solidFill>
                <a:highlight>
                  <a:schemeClr val="lt1"/>
                </a:highlight>
              </a:rPr>
              <a:t> projects, combining their strengths while adding new capabilities. Built by the same teams, it is the unified foundation for building AI agents going forward.</a:t>
            </a:r>
            <a:endParaRPr sz="3500">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400"/>
              <a:buNone/>
            </a:pPr>
            <a:r>
              <a:rPr lang="en-CA"/>
              <a:t>Sematic Kernel</a:t>
            </a:r>
            <a:endParaRPr/>
          </a:p>
        </p:txBody>
      </p:sp>
      <p:sp>
        <p:nvSpPr>
          <p:cNvPr id="103" name="Google Shape;103;p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Open-source SDK from Microsoft for building Al-powered applications</a:t>
            </a:r>
            <a:endParaRPr/>
          </a:p>
          <a:p>
            <a:pPr marL="228600" lvl="0" indent="-228600" algn="l" rtl="0">
              <a:lnSpc>
                <a:spcPct val="90000"/>
              </a:lnSpc>
              <a:spcBef>
                <a:spcPts val="1000"/>
              </a:spcBef>
              <a:spcAft>
                <a:spcPts val="0"/>
              </a:spcAft>
              <a:buClr>
                <a:schemeClr val="dk1"/>
              </a:buClr>
              <a:buSzPts val="2800"/>
              <a:buChar char="•"/>
            </a:pPr>
            <a:r>
              <a:rPr lang="en-CA"/>
              <a:t>﻿﻿It helps developers embed reasoning and natural-language capabilities into apps "AI as a function call"</a:t>
            </a:r>
            <a:endParaRPr/>
          </a:p>
        </p:txBody>
      </p:sp>
      <p:sp>
        <p:nvSpPr>
          <p:cNvPr id="104" name="Google Shape;104;p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400"/>
              <a:buNone/>
            </a:pPr>
            <a:r>
              <a:rPr lang="en-CA"/>
              <a:t>AutoGen</a:t>
            </a:r>
            <a:endParaRPr/>
          </a:p>
        </p:txBody>
      </p:sp>
      <p:sp>
        <p:nvSpPr>
          <p:cNvPr id="105" name="Google Shape;105;p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Open-source framework from</a:t>
            </a:r>
            <a:endParaRPr/>
          </a:p>
          <a:p>
            <a:pPr marL="228600" lvl="0" indent="-228600" algn="l" rtl="0">
              <a:lnSpc>
                <a:spcPct val="90000"/>
              </a:lnSpc>
              <a:spcBef>
                <a:spcPts val="1000"/>
              </a:spcBef>
              <a:spcAft>
                <a:spcPts val="0"/>
              </a:spcAft>
              <a:buClr>
                <a:schemeClr val="dk1"/>
              </a:buClr>
              <a:buSzPts val="2800"/>
              <a:buChar char="•"/>
            </a:pPr>
            <a:r>
              <a:rPr lang="en-CA"/>
              <a:t>Microsoft Research for building multi-agent systems ie. multiple LLM agents talking to each other and collaborating to solve problems.</a:t>
            </a:r>
            <a:endParaRPr/>
          </a:p>
        </p:txBody>
      </p:sp>
      <p:pic>
        <p:nvPicPr>
          <p:cNvPr id="106" name="Google Shape;106;p3"/>
          <p:cNvPicPr preferRelativeResize="0"/>
          <p:nvPr/>
        </p:nvPicPr>
        <p:blipFill rotWithShape="1">
          <a:blip r:embed="rId3">
            <a:alphaModFix/>
          </a:blip>
          <a:srcRect/>
          <a:stretch/>
        </p:blipFill>
        <p:spPr>
          <a:xfrm>
            <a:off x="1278591" y="213519"/>
            <a:ext cx="1943100" cy="1879600"/>
          </a:xfrm>
          <a:prstGeom prst="rect">
            <a:avLst/>
          </a:prstGeom>
          <a:noFill/>
          <a:ln>
            <a:noFill/>
          </a:ln>
        </p:spPr>
      </p:pic>
      <p:pic>
        <p:nvPicPr>
          <p:cNvPr id="107" name="Google Shape;107;p3"/>
          <p:cNvPicPr preferRelativeResize="0"/>
          <p:nvPr/>
        </p:nvPicPr>
        <p:blipFill rotWithShape="1">
          <a:blip r:embed="rId4">
            <a:alphaModFix/>
          </a:blip>
          <a:srcRect/>
          <a:stretch/>
        </p:blipFill>
        <p:spPr>
          <a:xfrm>
            <a:off x="8059646" y="668337"/>
            <a:ext cx="1165036" cy="1145290"/>
          </a:xfrm>
          <a:prstGeom prst="rect">
            <a:avLst/>
          </a:prstGeom>
          <a:noFill/>
          <a:ln>
            <a:noFill/>
          </a:ln>
        </p:spPr>
      </p:pic>
      <p:pic>
        <p:nvPicPr>
          <p:cNvPr id="108" name="Google Shape;108;p3"/>
          <p:cNvPicPr preferRelativeResize="0"/>
          <p:nvPr/>
        </p:nvPicPr>
        <p:blipFill rotWithShape="1">
          <a:blip r:embed="rId5">
            <a:alphaModFix/>
          </a:blip>
          <a:srcRect/>
          <a:stretch/>
        </p:blipFill>
        <p:spPr>
          <a:xfrm>
            <a:off x="4632511" y="525722"/>
            <a:ext cx="1642035" cy="15673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sz="4700"/>
              <a:t>Microsoft Agent Framework</a:t>
            </a:r>
            <a:endParaRPr sz="4700"/>
          </a:p>
        </p:txBody>
      </p:sp>
      <p:sp>
        <p:nvSpPr>
          <p:cNvPr id="114" name="Google Shape;11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Open-source SDK and runtime from Microsoft for building, orchestrating and deploying Al agents and multi-agent workflows</a:t>
            </a:r>
            <a:endParaRPr/>
          </a:p>
          <a:p>
            <a:pPr marL="228600" lvl="0" indent="-228600" algn="l" rtl="0">
              <a:lnSpc>
                <a:spcPct val="90000"/>
              </a:lnSpc>
              <a:spcBef>
                <a:spcPts val="1000"/>
              </a:spcBef>
              <a:spcAft>
                <a:spcPts val="0"/>
              </a:spcAft>
              <a:buClr>
                <a:schemeClr val="dk1"/>
              </a:buClr>
              <a:buSzPts val="2800"/>
              <a:buChar char="•"/>
            </a:pPr>
            <a:r>
              <a:rPr lang="en-CA"/>
              <a:t>﻿﻿Supports both .NET (C#) and Python</a:t>
            </a:r>
            <a:endParaRPr/>
          </a:p>
          <a:p>
            <a:pPr marL="228600" lvl="0" indent="-228600" algn="l" rtl="0">
              <a:lnSpc>
                <a:spcPct val="90000"/>
              </a:lnSpc>
              <a:spcBef>
                <a:spcPts val="1000"/>
              </a:spcBef>
              <a:spcAft>
                <a:spcPts val="0"/>
              </a:spcAft>
              <a:buClr>
                <a:schemeClr val="dk1"/>
              </a:buClr>
              <a:buSzPts val="2800"/>
              <a:buChar char="•"/>
            </a:pPr>
            <a:r>
              <a:rPr lang="en-CA"/>
              <a:t>﻿﻿Unifies </a:t>
            </a:r>
            <a:r>
              <a:rPr lang="en-CA" i="1"/>
              <a:t>Semantic Kernel </a:t>
            </a:r>
            <a:r>
              <a:rPr lang="en-CA"/>
              <a:t>and </a:t>
            </a:r>
            <a:r>
              <a:rPr lang="en-CA" i="1"/>
              <a:t>AutoGen</a:t>
            </a:r>
            <a:r>
              <a:rPr lang="en-CA"/>
              <a:t> into a single framework</a:t>
            </a:r>
            <a:endParaRPr/>
          </a:p>
          <a:p>
            <a:pPr marL="0" lvl="0" indent="0" algn="l" rtl="0">
              <a:lnSpc>
                <a:spcPct val="90000"/>
              </a:lnSpc>
              <a:spcBef>
                <a:spcPts val="1000"/>
              </a:spcBef>
              <a:spcAft>
                <a:spcPts val="0"/>
              </a:spcAft>
              <a:buClr>
                <a:schemeClr val="dk1"/>
              </a:buClr>
              <a:buSzPts val="2800"/>
              <a:buNone/>
            </a:pPr>
            <a:endParaRPr/>
          </a:p>
        </p:txBody>
      </p:sp>
      <p:pic>
        <p:nvPicPr>
          <p:cNvPr id="115" name="Google Shape;115;p4"/>
          <p:cNvPicPr preferRelativeResize="0"/>
          <p:nvPr/>
        </p:nvPicPr>
        <p:blipFill rotWithShape="1">
          <a:blip r:embed="rId3">
            <a:alphaModFix/>
          </a:blip>
          <a:srcRect/>
          <a:stretch/>
        </p:blipFill>
        <p:spPr>
          <a:xfrm>
            <a:off x="8526556" y="496000"/>
            <a:ext cx="1020856" cy="9981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5"/>
          <p:cNvPicPr preferRelativeResize="0"/>
          <p:nvPr/>
        </p:nvPicPr>
        <p:blipFill rotWithShape="1">
          <a:blip r:embed="rId3">
            <a:alphaModFix/>
          </a:blip>
          <a:srcRect/>
          <a:stretch/>
        </p:blipFill>
        <p:spPr>
          <a:xfrm>
            <a:off x="376270" y="306549"/>
            <a:ext cx="10046922" cy="5952735"/>
          </a:xfrm>
          <a:prstGeom prst="rect">
            <a:avLst/>
          </a:prstGeom>
          <a:noFill/>
          <a:ln>
            <a:noFill/>
          </a:ln>
        </p:spPr>
      </p:pic>
      <p:sp>
        <p:nvSpPr>
          <p:cNvPr id="121" name="Google Shape;121;p5"/>
          <p:cNvSpPr txBox="1"/>
          <p:nvPr/>
        </p:nvSpPr>
        <p:spPr>
          <a:xfrm rot="-2744922">
            <a:off x="3782973" y="4900293"/>
            <a:ext cx="177467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400">
                <a:solidFill>
                  <a:srgbClr val="FF0000"/>
                </a:solidFill>
                <a:latin typeface="Arial"/>
                <a:ea typeface="Arial"/>
                <a:cs typeface="Arial"/>
                <a:sym typeface="Arial"/>
              </a:rPr>
              <a:t>ReAct: Reason + Act</a:t>
            </a:r>
            <a:endParaRPr/>
          </a:p>
        </p:txBody>
      </p:sp>
      <p:sp>
        <p:nvSpPr>
          <p:cNvPr id="122" name="Google Shape;122;p5"/>
          <p:cNvSpPr txBox="1"/>
          <p:nvPr/>
        </p:nvSpPr>
        <p:spPr>
          <a:xfrm rot="-2744922">
            <a:off x="3362025" y="2753092"/>
            <a:ext cx="11577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400">
                <a:solidFill>
                  <a:srgbClr val="FF0000"/>
                </a:solidFill>
                <a:latin typeface="Arial"/>
                <a:ea typeface="Arial"/>
                <a:cs typeface="Arial"/>
                <a:sym typeface="Arial"/>
              </a:rPr>
              <a:t>Reasoning</a:t>
            </a:r>
            <a:endParaRPr/>
          </a:p>
        </p:txBody>
      </p:sp>
      <p:sp>
        <p:nvSpPr>
          <p:cNvPr id="123" name="Google Shape;123;p5"/>
          <p:cNvSpPr txBox="1"/>
          <p:nvPr/>
        </p:nvSpPr>
        <p:spPr>
          <a:xfrm>
            <a:off x="6486225" y="1936664"/>
            <a:ext cx="66569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400">
                <a:solidFill>
                  <a:srgbClr val="FF0000"/>
                </a:solidFill>
                <a:latin typeface="Arial"/>
                <a:ea typeface="Arial"/>
                <a:cs typeface="Arial"/>
                <a:sym typeface="Arial"/>
              </a:rPr>
              <a:t>Act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7"/>
          <p:cNvPicPr preferRelativeResize="0"/>
          <p:nvPr/>
        </p:nvPicPr>
        <p:blipFill rotWithShape="1">
          <a:blip r:embed="rId3">
            <a:alphaModFix/>
          </a:blip>
          <a:srcRect/>
          <a:stretch/>
        </p:blipFill>
        <p:spPr>
          <a:xfrm>
            <a:off x="2330450" y="2533650"/>
            <a:ext cx="7531100" cy="1790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Why Build Agents in Code?</a:t>
            </a:r>
            <a:endParaRPr/>
          </a:p>
        </p:txBody>
      </p:sp>
      <p:grpSp>
        <p:nvGrpSpPr>
          <p:cNvPr id="135" name="Google Shape;135;p8"/>
          <p:cNvGrpSpPr/>
          <p:nvPr/>
        </p:nvGrpSpPr>
        <p:grpSpPr>
          <a:xfrm>
            <a:off x="704538" y="1688667"/>
            <a:ext cx="10515600" cy="4804207"/>
            <a:chOff x="0" y="0"/>
            <a:chExt cx="10515600" cy="4804207"/>
          </a:xfrm>
        </p:grpSpPr>
        <p:sp>
          <p:nvSpPr>
            <p:cNvPr id="136" name="Google Shape;136;p8"/>
            <p:cNvSpPr/>
            <p:nvPr/>
          </p:nvSpPr>
          <p:spPr>
            <a:xfrm>
              <a:off x="0" y="0"/>
              <a:ext cx="10515600" cy="2161893"/>
            </a:xfrm>
            <a:prstGeom prst="roundRect">
              <a:avLst>
                <a:gd name="adj" fmla="val 10000"/>
              </a:avLst>
            </a:prstGeom>
            <a:solidFill>
              <a:srgbClr val="CAD1D8">
                <a:alpha val="89803"/>
              </a:srgbClr>
            </a:solidFill>
            <a:ln w="19050" cap="flat" cmpd="sng">
              <a:solidFill>
                <a:srgbClr val="CAD1D8">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315468" y="288252"/>
              <a:ext cx="3088957" cy="1585388"/>
            </a:xfrm>
            <a:prstGeom prst="roundRect">
              <a:avLst>
                <a:gd name="adj" fmla="val 10000"/>
              </a:avLst>
            </a:prstGeom>
            <a:blipFill rotWithShape="1">
              <a:blip r:embed="rId3">
                <a:alphaModFix/>
              </a:blip>
              <a:stretch>
                <a:fillRect t="-16997" b="-16998"/>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rot="10800000">
              <a:off x="315468" y="2161893"/>
              <a:ext cx="3088957" cy="2642314"/>
            </a:xfrm>
            <a:prstGeom prst="round2SameRect">
              <a:avLst>
                <a:gd name="adj1" fmla="val 10500"/>
                <a:gd name="adj2" fmla="val 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txBox="1"/>
            <p:nvPr/>
          </p:nvSpPr>
          <p:spPr>
            <a:xfrm>
              <a:off x="396728" y="2161893"/>
              <a:ext cx="2926437" cy="2561054"/>
            </a:xfrm>
            <a:prstGeom prst="rect">
              <a:avLst/>
            </a:prstGeom>
            <a:noFill/>
            <a:ln>
              <a:noFill/>
            </a:ln>
          </p:spPr>
          <p:txBody>
            <a:bodyPr spcFirstLastPara="1" wrap="square" lIns="120900" tIns="120900" rIns="120900" bIns="120900" anchor="t" anchorCtr="0">
              <a:noAutofit/>
            </a:bodyPr>
            <a:lstStyle/>
            <a:p>
              <a:pPr marL="0" marR="0" lvl="0" indent="0" algn="ctr" rtl="0">
                <a:lnSpc>
                  <a:spcPct val="90000"/>
                </a:lnSpc>
                <a:spcBef>
                  <a:spcPts val="0"/>
                </a:spcBef>
                <a:spcAft>
                  <a:spcPts val="0"/>
                </a:spcAft>
                <a:buClr>
                  <a:schemeClr val="lt1"/>
                </a:buClr>
                <a:buSzPts val="1700"/>
                <a:buFont typeface="Arial"/>
                <a:buNone/>
              </a:pPr>
              <a:r>
                <a:rPr lang="en-CA" sz="1700" b="1">
                  <a:solidFill>
                    <a:schemeClr val="lt1"/>
                  </a:solidFill>
                  <a:latin typeface="Arial"/>
                  <a:ea typeface="Arial"/>
                  <a:cs typeface="Arial"/>
                  <a:sym typeface="Arial"/>
                </a:rPr>
                <a:t>Full Control &amp; Customization</a:t>
              </a:r>
              <a:br>
                <a:rPr lang="en-CA" sz="1700" b="1">
                  <a:solidFill>
                    <a:schemeClr val="lt1"/>
                  </a:solidFill>
                  <a:latin typeface="Arial"/>
                  <a:ea typeface="Arial"/>
                  <a:cs typeface="Arial"/>
                  <a:sym typeface="Arial"/>
                </a:rPr>
              </a:br>
              <a:endParaRPr sz="1700" b="1">
                <a:solidFill>
                  <a:schemeClr val="lt1"/>
                </a:solidFill>
                <a:latin typeface="Arial"/>
                <a:ea typeface="Arial"/>
                <a:cs typeface="Arial"/>
                <a:sym typeface="Arial"/>
              </a:endParaRPr>
            </a:p>
            <a:p>
              <a:pPr marL="0" marR="0" lvl="0" indent="0" algn="ctr" rtl="0">
                <a:lnSpc>
                  <a:spcPct val="90000"/>
                </a:lnSpc>
                <a:spcBef>
                  <a:spcPts val="595"/>
                </a:spcBef>
                <a:spcAft>
                  <a:spcPts val="0"/>
                </a:spcAft>
                <a:buClr>
                  <a:schemeClr val="lt1"/>
                </a:buClr>
                <a:buSzPts val="1700"/>
                <a:buFont typeface="Arial"/>
                <a:buNone/>
              </a:pPr>
              <a:r>
                <a:rPr lang="en-CA" sz="1700">
                  <a:solidFill>
                    <a:schemeClr val="lt1"/>
                  </a:solidFill>
                  <a:latin typeface="Arial"/>
                  <a:ea typeface="Arial"/>
                  <a:cs typeface="Arial"/>
                  <a:sym typeface="Arial"/>
                </a:rPr>
                <a:t>Code-first agents can use any model, tool, or data source - not limited to pre-defined connectors or templates</a:t>
              </a:r>
              <a:endParaRPr sz="1700">
                <a:solidFill>
                  <a:schemeClr val="lt1"/>
                </a:solidFill>
                <a:latin typeface="Arial"/>
                <a:ea typeface="Arial"/>
                <a:cs typeface="Arial"/>
                <a:sym typeface="Arial"/>
              </a:endParaRPr>
            </a:p>
          </p:txBody>
        </p:sp>
        <p:sp>
          <p:nvSpPr>
            <p:cNvPr id="140" name="Google Shape;140;p8"/>
            <p:cNvSpPr/>
            <p:nvPr/>
          </p:nvSpPr>
          <p:spPr>
            <a:xfrm>
              <a:off x="3713321" y="288252"/>
              <a:ext cx="3088957" cy="1585388"/>
            </a:xfrm>
            <a:prstGeom prst="roundRect">
              <a:avLst>
                <a:gd name="adj" fmla="val 10000"/>
              </a:avLst>
            </a:prstGeom>
            <a:blipFill rotWithShape="1">
              <a:blip r:embed="rId4">
                <a:alphaModFix/>
              </a:blip>
              <a:stretch>
                <a:fillRect t="-46996" b="-46994"/>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rot="10800000">
              <a:off x="3713321" y="2161893"/>
              <a:ext cx="3088957" cy="2642314"/>
            </a:xfrm>
            <a:prstGeom prst="round2SameRect">
              <a:avLst>
                <a:gd name="adj1" fmla="val 10500"/>
                <a:gd name="adj2" fmla="val 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txBox="1"/>
            <p:nvPr/>
          </p:nvSpPr>
          <p:spPr>
            <a:xfrm>
              <a:off x="3794581" y="2161893"/>
              <a:ext cx="2926437" cy="2561054"/>
            </a:xfrm>
            <a:prstGeom prst="rect">
              <a:avLst/>
            </a:prstGeom>
            <a:noFill/>
            <a:ln>
              <a:noFill/>
            </a:ln>
          </p:spPr>
          <p:txBody>
            <a:bodyPr spcFirstLastPara="1" wrap="square" lIns="120900" tIns="120900" rIns="120900" bIns="120900" anchor="t" anchorCtr="0">
              <a:noAutofit/>
            </a:bodyPr>
            <a:lstStyle/>
            <a:p>
              <a:pPr marL="0" marR="0" lvl="0" indent="0" algn="ctr" rtl="0">
                <a:lnSpc>
                  <a:spcPct val="90000"/>
                </a:lnSpc>
                <a:spcBef>
                  <a:spcPts val="0"/>
                </a:spcBef>
                <a:spcAft>
                  <a:spcPts val="0"/>
                </a:spcAft>
                <a:buClr>
                  <a:schemeClr val="lt1"/>
                </a:buClr>
                <a:buSzPts val="1700"/>
                <a:buFont typeface="Arial"/>
                <a:buNone/>
              </a:pPr>
              <a:r>
                <a:rPr lang="en-CA" sz="1700" b="1">
                  <a:solidFill>
                    <a:schemeClr val="lt1"/>
                  </a:solidFill>
                  <a:latin typeface="Arial"/>
                  <a:ea typeface="Arial"/>
                  <a:cs typeface="Arial"/>
                  <a:sym typeface="Arial"/>
                </a:rPr>
                <a:t>Local Experimentation</a:t>
              </a:r>
              <a:br>
                <a:rPr lang="en-CA" sz="1700" b="1">
                  <a:solidFill>
                    <a:schemeClr val="lt1"/>
                  </a:solidFill>
                  <a:latin typeface="Arial"/>
                  <a:ea typeface="Arial"/>
                  <a:cs typeface="Arial"/>
                  <a:sym typeface="Arial"/>
                </a:rPr>
              </a:br>
              <a:endParaRPr sz="1700">
                <a:solidFill>
                  <a:schemeClr val="lt1"/>
                </a:solidFill>
                <a:latin typeface="Arial"/>
                <a:ea typeface="Arial"/>
                <a:cs typeface="Arial"/>
                <a:sym typeface="Arial"/>
              </a:endParaRPr>
            </a:p>
            <a:p>
              <a:pPr marL="0" marR="0" lvl="0" indent="0" algn="ctr" rtl="0">
                <a:lnSpc>
                  <a:spcPct val="90000"/>
                </a:lnSpc>
                <a:spcBef>
                  <a:spcPts val="595"/>
                </a:spcBef>
                <a:spcAft>
                  <a:spcPts val="0"/>
                </a:spcAft>
                <a:buClr>
                  <a:schemeClr val="lt1"/>
                </a:buClr>
                <a:buSzPts val="1700"/>
                <a:buFont typeface="Arial"/>
                <a:buNone/>
              </a:pPr>
              <a:r>
                <a:rPr lang="en-CA" sz="1700">
                  <a:solidFill>
                    <a:schemeClr val="lt1"/>
                  </a:solidFill>
                  <a:latin typeface="Arial"/>
                  <a:ea typeface="Arial"/>
                  <a:cs typeface="Arial"/>
                  <a:sym typeface="Arial"/>
                </a:rPr>
                <a:t>Run agents on your laptop with your preferred IDEs (VS Code, GitHub) with no cloud dependency; debug, test, and integrate into CI/CD pipelines before scaling</a:t>
              </a:r>
              <a:endParaRPr sz="1700">
                <a:solidFill>
                  <a:schemeClr val="lt1"/>
                </a:solidFill>
                <a:latin typeface="Arial"/>
                <a:ea typeface="Arial"/>
                <a:cs typeface="Arial"/>
                <a:sym typeface="Arial"/>
              </a:endParaRPr>
            </a:p>
          </p:txBody>
        </p:sp>
        <p:sp>
          <p:nvSpPr>
            <p:cNvPr id="143" name="Google Shape;143;p8"/>
            <p:cNvSpPr/>
            <p:nvPr/>
          </p:nvSpPr>
          <p:spPr>
            <a:xfrm>
              <a:off x="7111174" y="288252"/>
              <a:ext cx="3088957" cy="1585388"/>
            </a:xfrm>
            <a:prstGeom prst="roundRect">
              <a:avLst>
                <a:gd name="adj" fmla="val 10000"/>
              </a:avLst>
            </a:prstGeom>
            <a:blipFill rotWithShape="1">
              <a:blip r:embed="rId5">
                <a:alphaModFix/>
              </a:blip>
              <a:stretch>
                <a:fillRect t="-21996" b="-21996"/>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rot="10800000">
              <a:off x="7111174" y="2161893"/>
              <a:ext cx="3088957" cy="2642314"/>
            </a:xfrm>
            <a:prstGeom prst="round2SameRect">
              <a:avLst>
                <a:gd name="adj1" fmla="val 10500"/>
                <a:gd name="adj2" fmla="val 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txBox="1"/>
            <p:nvPr/>
          </p:nvSpPr>
          <p:spPr>
            <a:xfrm>
              <a:off x="7192434" y="2161893"/>
              <a:ext cx="2926437" cy="2561054"/>
            </a:xfrm>
            <a:prstGeom prst="rect">
              <a:avLst/>
            </a:prstGeom>
            <a:noFill/>
            <a:ln>
              <a:noFill/>
            </a:ln>
          </p:spPr>
          <p:txBody>
            <a:bodyPr spcFirstLastPara="1" wrap="square" lIns="120900" tIns="120900" rIns="120900" bIns="120900" anchor="t" anchorCtr="0">
              <a:noAutofit/>
            </a:bodyPr>
            <a:lstStyle/>
            <a:p>
              <a:pPr marL="0" marR="0" lvl="0" indent="0" algn="ctr" rtl="0">
                <a:lnSpc>
                  <a:spcPct val="90000"/>
                </a:lnSpc>
                <a:spcBef>
                  <a:spcPts val="0"/>
                </a:spcBef>
                <a:spcAft>
                  <a:spcPts val="0"/>
                </a:spcAft>
                <a:buClr>
                  <a:schemeClr val="lt1"/>
                </a:buClr>
                <a:buSzPts val="1700"/>
                <a:buFont typeface="Arial"/>
                <a:buNone/>
              </a:pPr>
              <a:r>
                <a:rPr lang="en-CA" sz="1700" b="1">
                  <a:solidFill>
                    <a:schemeClr val="lt1"/>
                  </a:solidFill>
                  <a:latin typeface="Arial"/>
                  <a:ea typeface="Arial"/>
                  <a:cs typeface="Arial"/>
                  <a:sym typeface="Arial"/>
                </a:rPr>
                <a:t>Portability</a:t>
              </a:r>
              <a:endParaRPr/>
            </a:p>
            <a:p>
              <a:pPr marL="0" marR="0" lvl="0" indent="0" algn="ctr" rtl="0">
                <a:lnSpc>
                  <a:spcPct val="90000"/>
                </a:lnSpc>
                <a:spcBef>
                  <a:spcPts val="595"/>
                </a:spcBef>
                <a:spcAft>
                  <a:spcPts val="0"/>
                </a:spcAft>
                <a:buClr>
                  <a:schemeClr val="dk1"/>
                </a:buClr>
                <a:buSzPts val="1700"/>
                <a:buFont typeface="Arial"/>
                <a:buNone/>
              </a:pPr>
              <a:endParaRPr sz="1700">
                <a:solidFill>
                  <a:schemeClr val="lt1"/>
                </a:solidFill>
                <a:latin typeface="Arial"/>
                <a:ea typeface="Arial"/>
                <a:cs typeface="Arial"/>
                <a:sym typeface="Arial"/>
              </a:endParaRPr>
            </a:p>
            <a:p>
              <a:pPr marL="0" marR="0" lvl="0" indent="0" algn="ctr" rtl="0">
                <a:lnSpc>
                  <a:spcPct val="90000"/>
                </a:lnSpc>
                <a:spcBef>
                  <a:spcPts val="595"/>
                </a:spcBef>
                <a:spcAft>
                  <a:spcPts val="0"/>
                </a:spcAft>
                <a:buClr>
                  <a:schemeClr val="lt1"/>
                </a:buClr>
                <a:buSzPts val="1700"/>
                <a:buFont typeface="Arial"/>
                <a:buNone/>
              </a:pPr>
              <a:r>
                <a:rPr lang="en-CA" sz="1700">
                  <a:solidFill>
                    <a:schemeClr val="lt1"/>
                  </a:solidFill>
                  <a:latin typeface="Arial"/>
                  <a:ea typeface="Arial"/>
                  <a:cs typeface="Arial"/>
                  <a:sym typeface="Arial"/>
                </a:rPr>
                <a:t>Move from local to any cloud without rewrites, avoiding vendor lock-in</a:t>
              </a:r>
              <a:endParaRPr sz="1700">
                <a:solidFill>
                  <a:schemeClr val="lt1"/>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Topics and Workshops</a:t>
            </a:r>
            <a:endParaRPr/>
          </a:p>
        </p:txBody>
      </p:sp>
      <p:sp>
        <p:nvSpPr>
          <p:cNvPr id="151" name="Google Shape;15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Producing Structured Output with Agents (AI Agent SQL)</a:t>
            </a:r>
            <a:endParaRPr/>
          </a:p>
          <a:p>
            <a:pPr marL="228600" lvl="0" indent="-228600" algn="l" rtl="0">
              <a:lnSpc>
                <a:spcPct val="90000"/>
              </a:lnSpc>
              <a:spcBef>
                <a:spcPts val="1000"/>
              </a:spcBef>
              <a:spcAft>
                <a:spcPts val="0"/>
              </a:spcAft>
              <a:buClr>
                <a:schemeClr val="dk1"/>
              </a:buClr>
              <a:buSzPts val="2800"/>
              <a:buChar char="•"/>
            </a:pPr>
            <a:r>
              <a:rPr lang="en-CA"/>
              <a:t>Create a Simple Sequential Workflow</a:t>
            </a:r>
            <a:endParaRPr/>
          </a:p>
          <a:p>
            <a:pPr marL="228600" lvl="0" indent="-165100" algn="l" rtl="0">
              <a:lnSpc>
                <a:spcPct val="90000"/>
              </a:lnSpc>
              <a:spcBef>
                <a:spcPts val="1000"/>
              </a:spcBef>
              <a:spcAft>
                <a:spcPts val="0"/>
              </a:spcAft>
              <a:buSzPts val="1800"/>
              <a:buChar char="•"/>
            </a:pPr>
            <a:r>
              <a:rPr lang="en-CA"/>
              <a:t>Concurrent Workflow</a:t>
            </a:r>
            <a:endParaRPr/>
          </a:p>
          <a:p>
            <a:pPr marL="228600" lvl="0" indent="-165100" algn="l" rtl="0">
              <a:lnSpc>
                <a:spcPct val="90000"/>
              </a:lnSpc>
              <a:spcBef>
                <a:spcPts val="1000"/>
              </a:spcBef>
              <a:spcAft>
                <a:spcPts val="0"/>
              </a:spcAft>
              <a:buSzPts val="1800"/>
              <a:buChar char="•"/>
            </a:pPr>
            <a:r>
              <a:rPr lang="en-CA"/>
              <a:t>Payment Transaction Validator</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Producing Structured Output with Agents</a:t>
            </a:r>
            <a:endParaRPr/>
          </a:p>
        </p:txBody>
      </p:sp>
      <p:sp>
        <p:nvSpPr>
          <p:cNvPr id="157" name="Google Shape;157;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What is structured output with an agent?</a:t>
            </a:r>
            <a:endParaRPr/>
          </a:p>
        </p:txBody>
      </p:sp>
      <p:sp>
        <p:nvSpPr>
          <p:cNvPr id="163" name="Google Shape;163;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Structured output with an agent means that an AI agent is designed to return its results in a predefined, machine-readable format, instead of free-form text</a:t>
            </a:r>
            <a:endParaRPr/>
          </a:p>
          <a:p>
            <a:pPr marL="228600" lvl="0" indent="-228600" algn="l" rtl="0">
              <a:lnSpc>
                <a:spcPct val="90000"/>
              </a:lnSpc>
              <a:spcBef>
                <a:spcPts val="1000"/>
              </a:spcBef>
              <a:spcAft>
                <a:spcPts val="0"/>
              </a:spcAft>
              <a:buClr>
                <a:schemeClr val="dk1"/>
              </a:buClr>
              <a:buSzPts val="2800"/>
              <a:buChar char="•"/>
            </a:pPr>
            <a:r>
              <a:rPr lang="en-CA"/>
              <a:t>In simple terms:</a:t>
            </a:r>
            <a:endParaRPr/>
          </a:p>
          <a:p>
            <a:pPr marL="0" lvl="0" indent="0" algn="l" rtl="0">
              <a:lnSpc>
                <a:spcPct val="90000"/>
              </a:lnSpc>
              <a:spcBef>
                <a:spcPts val="1000"/>
              </a:spcBef>
              <a:spcAft>
                <a:spcPts val="0"/>
              </a:spcAft>
              <a:buClr>
                <a:schemeClr val="dk1"/>
              </a:buClr>
              <a:buSzPts val="2800"/>
              <a:buNone/>
            </a:pPr>
            <a:r>
              <a:rPr lang="en-CA"/>
              <a:t>👉 the agent doesn’t just talk — it responds with data that other systems can reliably consume.</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Why is structured output important?</a:t>
            </a:r>
            <a:endParaRPr/>
          </a:p>
        </p:txBody>
      </p:sp>
      <p:sp>
        <p:nvSpPr>
          <p:cNvPr id="169" name="Google Shape;169;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Structured output is important because it makes AI reliable, automatable, and safe to integrate into real systems.</a:t>
            </a:r>
            <a:endParaRPr/>
          </a:p>
          <a:p>
            <a:pPr marL="228600" lvl="0" indent="-228600" algn="l" rtl="0">
              <a:lnSpc>
                <a:spcPct val="90000"/>
              </a:lnSpc>
              <a:spcBef>
                <a:spcPts val="1000"/>
              </a:spcBef>
              <a:spcAft>
                <a:spcPts val="0"/>
              </a:spcAft>
              <a:buClr>
                <a:schemeClr val="dk1"/>
              </a:buClr>
              <a:buSzPts val="2800"/>
              <a:buChar char="•"/>
            </a:pPr>
            <a:r>
              <a:rPr lang="en-CA"/>
              <a:t>We can enable dynamic analysis of business rules.</a:t>
            </a:r>
            <a:endParaRPr/>
          </a:p>
          <a:p>
            <a:pPr marL="228600" lvl="0" indent="-228600" algn="l" rtl="0">
              <a:lnSpc>
                <a:spcPct val="90000"/>
              </a:lnSpc>
              <a:spcBef>
                <a:spcPts val="1000"/>
              </a:spcBef>
              <a:spcAft>
                <a:spcPts val="0"/>
              </a:spcAft>
              <a:buClr>
                <a:schemeClr val="dk1"/>
              </a:buClr>
              <a:buSzPts val="2800"/>
              <a:buChar char="•"/>
            </a:pPr>
            <a:r>
              <a:rPr lang="en-CA"/>
              <a:t>For example, a fintech operating with Bitcoin and equities needs to send user-friendly notifications about:</a:t>
            </a:r>
            <a:endParaRPr/>
          </a:p>
          <a:p>
            <a:pPr marL="685800" lvl="1" indent="-254000" algn="l" rtl="0">
              <a:lnSpc>
                <a:spcPct val="90000"/>
              </a:lnSpc>
              <a:spcBef>
                <a:spcPts val="500"/>
              </a:spcBef>
              <a:spcAft>
                <a:spcPts val="0"/>
              </a:spcAft>
              <a:buClr>
                <a:schemeClr val="dk1"/>
              </a:buClr>
              <a:buSzPts val="2800"/>
              <a:buChar char="•"/>
            </a:pPr>
            <a:r>
              <a:rPr lang="en-CA" sz="2800"/>
              <a:t>new investments</a:t>
            </a:r>
            <a:endParaRPr sz="2800"/>
          </a:p>
          <a:p>
            <a:pPr marL="685800" lvl="1" indent="-254000" algn="l" rtl="0">
              <a:lnSpc>
                <a:spcPct val="90000"/>
              </a:lnSpc>
              <a:spcBef>
                <a:spcPts val="500"/>
              </a:spcBef>
              <a:spcAft>
                <a:spcPts val="0"/>
              </a:spcAft>
              <a:buClr>
                <a:schemeClr val="dk1"/>
              </a:buClr>
              <a:buSzPts val="2800"/>
              <a:buChar char="•"/>
            </a:pPr>
            <a:r>
              <a:rPr lang="en-CA" sz="2800"/>
              <a:t>price appreciation and depreciation,</a:t>
            </a:r>
            <a:endParaRPr sz="2800"/>
          </a:p>
          <a:p>
            <a:pPr marL="685800" lvl="1" indent="-254000" algn="l" rtl="0">
              <a:lnSpc>
                <a:spcPct val="90000"/>
              </a:lnSpc>
              <a:spcBef>
                <a:spcPts val="500"/>
              </a:spcBef>
              <a:spcAft>
                <a:spcPts val="0"/>
              </a:spcAft>
              <a:buClr>
                <a:schemeClr val="dk1"/>
              </a:buClr>
              <a:buSzPts val="2800"/>
              <a:buChar char="•"/>
            </a:pPr>
            <a:r>
              <a:rPr lang="en-CA" sz="2800"/>
              <a:t>market movements and growth trends.</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73"/>
        <p:cNvGrpSpPr/>
        <p:nvPr/>
      </p:nvGrpSpPr>
      <p:grpSpPr>
        <a:xfrm>
          <a:off x="0" y="0"/>
          <a:ext cx="0" cy="0"/>
          <a:chOff x="0" y="0"/>
          <a:chExt cx="0" cy="0"/>
        </a:xfrm>
      </p:grpSpPr>
      <p:sp>
        <p:nvSpPr>
          <p:cNvPr id="174" name="Google Shape;174;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Why is structured output important?</a:t>
            </a:r>
            <a:endParaRPr/>
          </a:p>
        </p:txBody>
      </p:sp>
      <p:sp>
        <p:nvSpPr>
          <p:cNvPr id="175" name="Google Shape;175;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We can design a set of microservices, exposing APIs that receive data and instructions, supported by classes that can interact with one another.</a:t>
            </a:r>
            <a:br>
              <a:rPr lang="en-CA"/>
            </a:br>
            <a:r>
              <a:rPr lang="en-CA"/>
              <a:t> Each class encapsulates its own AI-driven business logic and is able to orchestrate with other components, producing high-quality and consistent results.</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79"/>
        <p:cNvGrpSpPr/>
        <p:nvPr/>
      </p:nvGrpSpPr>
      <p:grpSpPr>
        <a:xfrm>
          <a:off x="0" y="0"/>
          <a:ext cx="0" cy="0"/>
          <a:chOff x="0" y="0"/>
          <a:chExt cx="0" cy="0"/>
        </a:xfrm>
      </p:grpSpPr>
      <p:sp>
        <p:nvSpPr>
          <p:cNvPr id="180" name="Google Shape;18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Another Use Case</a:t>
            </a:r>
            <a:endParaRPr/>
          </a:p>
        </p:txBody>
      </p:sp>
      <p:sp>
        <p:nvSpPr>
          <p:cNvPr id="181" name="Google Shape;18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40000" lnSpcReduction="20000"/>
          </a:bodyPr>
          <a:lstStyle/>
          <a:p>
            <a:pPr marL="228600" lvl="0" indent="-220723" algn="l" rtl="0">
              <a:lnSpc>
                <a:spcPct val="90000"/>
              </a:lnSpc>
              <a:spcBef>
                <a:spcPts val="0"/>
              </a:spcBef>
              <a:spcAft>
                <a:spcPts val="0"/>
              </a:spcAft>
              <a:buClr>
                <a:schemeClr val="dk1"/>
              </a:buClr>
              <a:buSzPct val="100000"/>
              <a:buChar char="•"/>
            </a:pPr>
            <a:r>
              <a:rPr lang="en-CA" sz="5639"/>
              <a:t>Another use case is leveraging structured inputs, such as friendly, guided questions, and connecting the agent directly to database inputs.</a:t>
            </a:r>
            <a:endParaRPr sz="5639"/>
          </a:p>
          <a:p>
            <a:pPr marL="228600" lvl="0" indent="-220723" algn="l" rtl="0">
              <a:lnSpc>
                <a:spcPct val="90000"/>
              </a:lnSpc>
              <a:spcBef>
                <a:spcPts val="1000"/>
              </a:spcBef>
              <a:spcAft>
                <a:spcPts val="0"/>
              </a:spcAft>
              <a:buClr>
                <a:schemeClr val="dk1"/>
              </a:buClr>
              <a:buSzPct val="100000"/>
              <a:buChar char="•"/>
            </a:pPr>
            <a:r>
              <a:rPr lang="en-CA" sz="5639"/>
              <a:t>Additionally, we can:</a:t>
            </a:r>
            <a:endParaRPr sz="5639"/>
          </a:p>
          <a:p>
            <a:pPr marL="685800" lvl="1" indent="-242313" algn="l" rtl="0">
              <a:lnSpc>
                <a:spcPct val="90000"/>
              </a:lnSpc>
              <a:spcBef>
                <a:spcPts val="500"/>
              </a:spcBef>
              <a:spcAft>
                <a:spcPts val="0"/>
              </a:spcAft>
              <a:buClr>
                <a:schemeClr val="dk1"/>
              </a:buClr>
              <a:buSzPct val="100000"/>
              <a:buChar char="•"/>
            </a:pPr>
            <a:r>
              <a:rPr lang="en-CA" sz="5639"/>
              <a:t>define regex-based rules for data filtering</a:t>
            </a:r>
            <a:endParaRPr sz="5639"/>
          </a:p>
          <a:p>
            <a:pPr marL="685800" lvl="1" indent="-242313" algn="l" rtl="0">
              <a:lnSpc>
                <a:spcPct val="90000"/>
              </a:lnSpc>
              <a:spcBef>
                <a:spcPts val="500"/>
              </a:spcBef>
              <a:spcAft>
                <a:spcPts val="0"/>
              </a:spcAft>
              <a:buClr>
                <a:schemeClr val="dk1"/>
              </a:buClr>
              <a:buSzPct val="100000"/>
              <a:buChar char="•"/>
            </a:pPr>
            <a:r>
              <a:rPr lang="en-CA" sz="5639"/>
              <a:t>orchestrate API workflows</a:t>
            </a:r>
            <a:endParaRPr sz="5639"/>
          </a:p>
          <a:p>
            <a:pPr marL="685800" lvl="1" indent="-242313" algn="l" rtl="0">
              <a:lnSpc>
                <a:spcPct val="90000"/>
              </a:lnSpc>
              <a:spcBef>
                <a:spcPts val="500"/>
              </a:spcBef>
              <a:spcAft>
                <a:spcPts val="0"/>
              </a:spcAft>
              <a:buClr>
                <a:schemeClr val="dk1"/>
              </a:buClr>
              <a:buSzPct val="100000"/>
              <a:buChar char="•"/>
            </a:pPr>
            <a:r>
              <a:rPr lang="en-CA" sz="5639"/>
              <a:t>perform data transformation and enrichment</a:t>
            </a:r>
            <a:endParaRPr sz="5639"/>
          </a:p>
          <a:p>
            <a:pPr marL="228600" lvl="0" indent="-220723" algn="l" rtl="0">
              <a:lnSpc>
                <a:spcPct val="90000"/>
              </a:lnSpc>
              <a:spcBef>
                <a:spcPts val="1000"/>
              </a:spcBef>
              <a:spcAft>
                <a:spcPts val="0"/>
              </a:spcAft>
              <a:buClr>
                <a:schemeClr val="dk1"/>
              </a:buClr>
              <a:buSzPct val="100000"/>
              <a:buChar char="•"/>
            </a:pPr>
            <a:r>
              <a:rPr lang="en-CA" sz="5639"/>
              <a:t>In this context, structured output allows us to make our APIs significantly more dynamic, enabling them to produce precise, actionable, and business-oriented information.</a:t>
            </a:r>
            <a:endParaRPr sz="5639"/>
          </a:p>
          <a:p>
            <a:pPr marL="228600" lvl="0" indent="-220723" algn="l" rtl="0">
              <a:lnSpc>
                <a:spcPct val="90000"/>
              </a:lnSpc>
              <a:spcBef>
                <a:spcPts val="1000"/>
              </a:spcBef>
              <a:spcAft>
                <a:spcPts val="0"/>
              </a:spcAft>
              <a:buClr>
                <a:schemeClr val="dk1"/>
              </a:buClr>
              <a:buSzPct val="100000"/>
              <a:buChar char="•"/>
            </a:pPr>
            <a:r>
              <a:rPr lang="en-CA" sz="5639"/>
              <a:t>What would traditionally require two development sprints to implement a complex architecture can be delivered in significantly less time using structured output, with greater predictability, lower complexity, and faster time to value.</a:t>
            </a:r>
            <a:endParaRPr sz="5639"/>
          </a:p>
          <a:p>
            <a:pPr marL="228600" lvl="0" indent="-77470" algn="l" rtl="0">
              <a:lnSpc>
                <a:spcPct val="90000"/>
              </a:lnSpc>
              <a:spcBef>
                <a:spcPts val="1000"/>
              </a:spcBef>
              <a:spcAft>
                <a:spcPts val="0"/>
              </a:spcAft>
              <a:buClr>
                <a:schemeClr val="dk1"/>
              </a:buClr>
              <a:buSzPct val="100000"/>
              <a:buNone/>
            </a:pPr>
            <a:endParaRPr/>
          </a:p>
          <a:p>
            <a:pPr marL="228600" lvl="0" indent="-77470" algn="l" rtl="0">
              <a:lnSpc>
                <a:spcPct val="90000"/>
              </a:lnSpc>
              <a:spcBef>
                <a:spcPts val="1000"/>
              </a:spcBef>
              <a:spcAft>
                <a:spcPts val="0"/>
              </a:spcAft>
              <a:buClr>
                <a:schemeClr val="dk1"/>
              </a:buClr>
              <a:buSzPct val="1000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Demonstration</a:t>
            </a:r>
            <a:endParaRPr/>
          </a:p>
        </p:txBody>
      </p:sp>
      <p:sp>
        <p:nvSpPr>
          <p:cNvPr id="187" name="Google Shape;18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PATCH /employees:</a:t>
            </a:r>
            <a:br>
              <a:rPr lang="en-CA"/>
            </a:br>
            <a:r>
              <a:rPr lang="en-CA"/>
              <a:t>Reads Chat Config, executes an Azure OpenAI agent that generates an AIResponse, which is used as a filter (filter.AIAnswer) to query the Employee Repository, and return the list of employees.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CA"/>
              <a:t>POST /agent-run:</a:t>
            </a:r>
            <a:br>
              <a:rPr lang="en-CA"/>
            </a:br>
            <a:r>
              <a:rPr lang="en-CA"/>
              <a:t>Reads Chat Config, executes an Azure OpenAI agent that produces a PersonInfo JSON, deserializes it, and returns the PersonInfo object</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Producing Structured Output with Agents</a:t>
            </a:r>
            <a:endParaRPr/>
          </a:p>
        </p:txBody>
      </p:sp>
      <p:sp>
        <p:nvSpPr>
          <p:cNvPr id="193" name="Google Shape;19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None/>
            </a:pPr>
            <a:r>
              <a:rPr lang="en-CA"/>
              <a:t>DEMO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Simple sequential workflow</a:t>
            </a:r>
            <a:endParaRPr/>
          </a:p>
        </p:txBody>
      </p:sp>
      <p:sp>
        <p:nvSpPr>
          <p:cNvPr id="199" name="Google Shape;199;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04"/>
        <p:cNvGrpSpPr/>
        <p:nvPr/>
      </p:nvGrpSpPr>
      <p:grpSpPr>
        <a:xfrm>
          <a:off x="0" y="0"/>
          <a:ext cx="0" cy="0"/>
          <a:chOff x="0" y="0"/>
          <a:chExt cx="0" cy="0"/>
        </a:xfrm>
      </p:grpSpPr>
      <p:sp>
        <p:nvSpPr>
          <p:cNvPr id="205" name="Google Shape;205;p18"/>
          <p:cNvSpPr txBox="1">
            <a:spLocks noGrp="1"/>
          </p:cNvSpPr>
          <p:nvPr>
            <p:ph type="title"/>
          </p:nvPr>
        </p:nvSpPr>
        <p:spPr>
          <a:xfrm>
            <a:off x="838200" y="4046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Simple Sequential Workflow</a:t>
            </a:r>
            <a:endParaRPr/>
          </a:p>
        </p:txBody>
      </p:sp>
      <p:sp>
        <p:nvSpPr>
          <p:cNvPr id="206" name="Google Shape;206;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CA"/>
              <a:t>Is designed to handle complex and long-running processes that might involve multiple agents, human interactions, and integrations with external systems</a:t>
            </a:r>
            <a:endParaRPr/>
          </a:p>
          <a:p>
            <a:pPr marL="0" lvl="0" indent="0" algn="l" rtl="0">
              <a:lnSpc>
                <a:spcPct val="90000"/>
              </a:lnSpc>
              <a:spcBef>
                <a:spcPts val="1000"/>
              </a:spcBef>
              <a:spcAft>
                <a:spcPts val="0"/>
              </a:spcAft>
              <a:buNone/>
            </a:pPr>
            <a:endParaRPr/>
          </a:p>
          <a:p>
            <a:pPr marL="0" lvl="0" indent="0" algn="l" rtl="0">
              <a:lnSpc>
                <a:spcPct val="90000"/>
              </a:lnSpc>
              <a:spcBef>
                <a:spcPts val="1000"/>
              </a:spcBef>
              <a:spcAft>
                <a:spcPts val="0"/>
              </a:spcAft>
              <a:buNone/>
            </a:pPr>
            <a:endParaRPr/>
          </a:p>
          <a:p>
            <a:pPr marL="0" lvl="0" indent="0" algn="l" rtl="0">
              <a:lnSpc>
                <a:spcPct val="90000"/>
              </a:lnSpc>
              <a:spcBef>
                <a:spcPts val="10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3b8df0275c8_0_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Play"/>
              <a:buNone/>
            </a:pPr>
            <a:r>
              <a:rPr lang="en-CA"/>
              <a:t>Simple Sequential Workflow</a:t>
            </a:r>
            <a:endParaRPr/>
          </a:p>
        </p:txBody>
      </p:sp>
      <p:sp>
        <p:nvSpPr>
          <p:cNvPr id="213" name="Google Shape;213;g3b8df0275c8_0_8"/>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Autofit/>
          </a:bodyPr>
          <a:lstStyle/>
          <a:p>
            <a:pPr marL="0" lvl="0" indent="0" algn="l" rtl="0">
              <a:lnSpc>
                <a:spcPct val="95000"/>
              </a:lnSpc>
              <a:spcBef>
                <a:spcPts val="1200"/>
              </a:spcBef>
              <a:spcAft>
                <a:spcPts val="0"/>
              </a:spcAft>
              <a:buClr>
                <a:schemeClr val="dk1"/>
              </a:buClr>
              <a:buSzPts val="852"/>
              <a:buFont typeface="Arial"/>
              <a:buNone/>
            </a:pPr>
            <a:r>
              <a:rPr lang="en-CA" sz="1752" b="1"/>
              <a:t>Simple Sequential Workflow (.NET + AI)</a:t>
            </a:r>
            <a:r>
              <a:rPr lang="en-CA" sz="1752"/>
              <a:t> is a linear execution flow in which each step runs in order, one after the other, with no parallelism or complex branching, using .NET as the foundation and AI to make decisions or generate responses.</a:t>
            </a:r>
            <a:endParaRPr sz="1752"/>
          </a:p>
          <a:p>
            <a:pPr marL="0" lvl="0" indent="0" algn="l" rtl="0">
              <a:lnSpc>
                <a:spcPct val="95000"/>
              </a:lnSpc>
              <a:spcBef>
                <a:spcPts val="1400"/>
              </a:spcBef>
              <a:spcAft>
                <a:spcPts val="0"/>
              </a:spcAft>
              <a:buClr>
                <a:schemeClr val="dk1"/>
              </a:buClr>
              <a:buSzPts val="852"/>
              <a:buFont typeface="Arial"/>
              <a:buNone/>
            </a:pPr>
            <a:r>
              <a:rPr lang="en-CA" sz="2207" b="1"/>
              <a:t>In simple terms</a:t>
            </a:r>
            <a:endParaRPr sz="2207" b="1"/>
          </a:p>
          <a:p>
            <a:pPr marL="0" lvl="0" indent="0" algn="l" rtl="0">
              <a:lnSpc>
                <a:spcPct val="95000"/>
              </a:lnSpc>
              <a:spcBef>
                <a:spcPts val="1200"/>
              </a:spcBef>
              <a:spcAft>
                <a:spcPts val="0"/>
              </a:spcAft>
              <a:buClr>
                <a:schemeClr val="dk1"/>
              </a:buClr>
              <a:buSzPts val="852"/>
              <a:buFont typeface="Arial"/>
              <a:buNone/>
            </a:pPr>
            <a:r>
              <a:rPr lang="en-CA" sz="2052"/>
              <a:t>Step 1 → Step 2 → Step 3 → End</a:t>
            </a:r>
            <a:endParaRPr sz="2052"/>
          </a:p>
          <a:p>
            <a:pPr marL="0" lvl="0" indent="0" algn="l" rtl="0">
              <a:lnSpc>
                <a:spcPct val="95000"/>
              </a:lnSpc>
              <a:spcBef>
                <a:spcPts val="1200"/>
              </a:spcBef>
              <a:spcAft>
                <a:spcPts val="0"/>
              </a:spcAft>
              <a:buClr>
                <a:schemeClr val="dk1"/>
              </a:buClr>
              <a:buSzPts val="852"/>
              <a:buFont typeface="Arial"/>
              <a:buNone/>
            </a:pPr>
            <a:r>
              <a:rPr lang="en-CA" sz="2052"/>
              <a:t>Each step:</a:t>
            </a:r>
            <a:endParaRPr sz="2052"/>
          </a:p>
          <a:p>
            <a:pPr marL="457200" lvl="0" indent="-358933" algn="l" rtl="0">
              <a:lnSpc>
                <a:spcPct val="95000"/>
              </a:lnSpc>
              <a:spcBef>
                <a:spcPts val="1200"/>
              </a:spcBef>
              <a:spcAft>
                <a:spcPts val="0"/>
              </a:spcAft>
              <a:buSzPts val="2053"/>
              <a:buChar char="●"/>
            </a:pPr>
            <a:r>
              <a:rPr lang="en-CA" sz="2052"/>
              <a:t>receives the output from the previous one</a:t>
            </a:r>
            <a:br>
              <a:rPr lang="en-CA" sz="2052"/>
            </a:br>
            <a:endParaRPr sz="2052"/>
          </a:p>
          <a:p>
            <a:pPr marL="457200" lvl="0" indent="-358933" algn="l" rtl="0">
              <a:lnSpc>
                <a:spcPct val="95000"/>
              </a:lnSpc>
              <a:spcBef>
                <a:spcPts val="0"/>
              </a:spcBef>
              <a:spcAft>
                <a:spcPts val="0"/>
              </a:spcAft>
              <a:buSzPts val="2053"/>
              <a:buChar char="●"/>
            </a:pPr>
            <a:r>
              <a:rPr lang="en-CA" sz="2052"/>
              <a:t>performs an action</a:t>
            </a:r>
            <a:br>
              <a:rPr lang="en-CA" sz="2052"/>
            </a:br>
            <a:endParaRPr sz="2052"/>
          </a:p>
          <a:p>
            <a:pPr marL="457200" lvl="0" indent="-301783" algn="l" rtl="0">
              <a:lnSpc>
                <a:spcPct val="95000"/>
              </a:lnSpc>
              <a:spcBef>
                <a:spcPts val="0"/>
              </a:spcBef>
              <a:spcAft>
                <a:spcPts val="0"/>
              </a:spcAft>
              <a:buSzPts val="1153"/>
              <a:buChar char="●"/>
            </a:pPr>
            <a:r>
              <a:rPr lang="en-CA" sz="2052"/>
              <a:t>passes the result forward</a:t>
            </a:r>
            <a:br>
              <a:rPr lang="en-CA" sz="1152"/>
            </a:br>
            <a:endParaRPr sz="1152"/>
          </a:p>
          <a:p>
            <a:pPr marL="0" lvl="0" indent="0" algn="l" rtl="0">
              <a:lnSpc>
                <a:spcPct val="70000"/>
              </a:lnSpc>
              <a:spcBef>
                <a:spcPts val="1200"/>
              </a:spcBef>
              <a:spcAft>
                <a:spcPts val="0"/>
              </a:spcAft>
              <a:buSzPts val="852"/>
              <a:buNone/>
            </a:pPr>
            <a:endParaRPr sz="217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3b8df0275c8_0_15"/>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Play"/>
              <a:buNone/>
            </a:pPr>
            <a:r>
              <a:rPr lang="en-CA"/>
              <a:t>Simple Sequential Workflow</a:t>
            </a:r>
            <a:endParaRPr/>
          </a:p>
        </p:txBody>
      </p:sp>
      <p:sp>
        <p:nvSpPr>
          <p:cNvPr id="220" name="Google Shape;220;g3b8df0275c8_0_15"/>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lnSpc>
                <a:spcPct val="95000"/>
              </a:lnSpc>
              <a:spcBef>
                <a:spcPts val="1400"/>
              </a:spcBef>
              <a:spcAft>
                <a:spcPts val="0"/>
              </a:spcAft>
              <a:buClr>
                <a:schemeClr val="dk1"/>
              </a:buClr>
              <a:buSzPts val="852"/>
              <a:buFont typeface="Arial"/>
              <a:buNone/>
            </a:pPr>
            <a:r>
              <a:rPr lang="en-CA" sz="2407" b="1"/>
              <a:t>Simple mental example</a:t>
            </a:r>
            <a:endParaRPr sz="2407" b="1"/>
          </a:p>
          <a:p>
            <a:pPr marL="457200" lvl="0" indent="-371633" algn="l" rtl="0">
              <a:lnSpc>
                <a:spcPct val="95000"/>
              </a:lnSpc>
              <a:spcBef>
                <a:spcPts val="1200"/>
              </a:spcBef>
              <a:spcAft>
                <a:spcPts val="0"/>
              </a:spcAft>
              <a:buSzPts val="2253"/>
              <a:buChar char="●"/>
            </a:pPr>
            <a:r>
              <a:rPr lang="en-CA" sz="2252"/>
              <a:t>Receive a text from the user</a:t>
            </a:r>
            <a:br>
              <a:rPr lang="en-CA" sz="2252"/>
            </a:br>
            <a:endParaRPr sz="2252"/>
          </a:p>
          <a:p>
            <a:pPr marL="457200" lvl="0" indent="-371633" algn="l" rtl="0">
              <a:lnSpc>
                <a:spcPct val="95000"/>
              </a:lnSpc>
              <a:spcBef>
                <a:spcPts val="0"/>
              </a:spcBef>
              <a:spcAft>
                <a:spcPts val="0"/>
              </a:spcAft>
              <a:buSzPts val="2253"/>
              <a:buChar char="●"/>
            </a:pPr>
            <a:r>
              <a:rPr lang="en-CA" sz="2252"/>
              <a:t>Send the text to an Lib/ Method/ LLM model</a:t>
            </a:r>
            <a:br>
              <a:rPr lang="en-CA" sz="2252"/>
            </a:br>
            <a:endParaRPr sz="2252"/>
          </a:p>
          <a:p>
            <a:pPr marL="457200" lvl="0" indent="-371633" algn="l" rtl="0">
              <a:lnSpc>
                <a:spcPct val="95000"/>
              </a:lnSpc>
              <a:spcBef>
                <a:spcPts val="0"/>
              </a:spcBef>
              <a:spcAft>
                <a:spcPts val="0"/>
              </a:spcAft>
              <a:buSzPts val="2253"/>
              <a:buChar char="●"/>
            </a:pPr>
            <a:r>
              <a:rPr lang="en-CA" sz="2252"/>
              <a:t>Interpret the response</a:t>
            </a:r>
            <a:br>
              <a:rPr lang="en-CA" sz="2252"/>
            </a:br>
            <a:endParaRPr sz="2252"/>
          </a:p>
          <a:p>
            <a:pPr marL="457200" lvl="0" indent="-371633" algn="l" rtl="0">
              <a:lnSpc>
                <a:spcPct val="95000"/>
              </a:lnSpc>
              <a:spcBef>
                <a:spcPts val="0"/>
              </a:spcBef>
              <a:spcAft>
                <a:spcPts val="0"/>
              </a:spcAft>
              <a:buSzPts val="2253"/>
              <a:buChar char="●"/>
            </a:pPr>
            <a:r>
              <a:rPr lang="en-CA" sz="2252"/>
              <a:t>Return the result to the API</a:t>
            </a:r>
            <a:br>
              <a:rPr lang="en-CA" sz="2252"/>
            </a:br>
            <a:endParaRPr sz="2252"/>
          </a:p>
          <a:p>
            <a:pPr marL="0" lvl="0" indent="0" algn="l" rtl="0">
              <a:lnSpc>
                <a:spcPct val="95000"/>
              </a:lnSpc>
              <a:spcBef>
                <a:spcPts val="1200"/>
              </a:spcBef>
              <a:spcAft>
                <a:spcPts val="1200"/>
              </a:spcAft>
              <a:buClr>
                <a:schemeClr val="dk1"/>
              </a:buClr>
              <a:buSzPts val="852"/>
              <a:buFont typeface="Arial"/>
              <a:buNone/>
            </a:pPr>
            <a:r>
              <a:rPr lang="en-CA" sz="2252"/>
              <a:t>Nothing happens out of order.</a:t>
            </a:r>
            <a:endParaRPr sz="3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b8df0275c8_0_2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CA"/>
              <a:t>Simple Sequential Workflow</a:t>
            </a:r>
            <a:endParaRPr/>
          </a:p>
        </p:txBody>
      </p:sp>
      <p:sp>
        <p:nvSpPr>
          <p:cNvPr id="227" name="Google Shape;227;g3b8df0275c8_0_21"/>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CA"/>
              <a:t>How to build a simple structure?</a:t>
            </a:r>
            <a:endParaRPr/>
          </a:p>
          <a:p>
            <a:pPr marL="0" lvl="0" indent="0" algn="l" rtl="0">
              <a:spcBef>
                <a:spcPts val="1000"/>
              </a:spcBef>
              <a:spcAft>
                <a:spcPts val="0"/>
              </a:spcAft>
              <a:buNone/>
            </a:pPr>
            <a:endParaRPr/>
          </a:p>
          <a:p>
            <a:pPr marL="0" lvl="0" indent="0" algn="l" rtl="0">
              <a:spcBef>
                <a:spcPts val="1000"/>
              </a:spcBef>
              <a:spcAft>
                <a:spcPts val="0"/>
              </a:spcAft>
              <a:buNone/>
            </a:pPr>
            <a:r>
              <a:rPr lang="en-CA"/>
              <a:t>We will build a simple C# console application that demonstrates a sequential workflow using Agent Framework Workflows. It converts input text to uppercase and then reverses it, executing the steps in sequence.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Demo</a:t>
            </a:r>
            <a:endParaRPr/>
          </a:p>
        </p:txBody>
      </p:sp>
      <p:sp>
        <p:nvSpPr>
          <p:cNvPr id="234" name="Google Shape;234;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None/>
            </a:pPr>
            <a:r>
              <a:rPr lang="en-CA"/>
              <a:t>Simple Sequential Workflow</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3b8df0275c8_0_3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Concurrent Workflow</a:t>
            </a:r>
            <a:endParaRPr/>
          </a:p>
        </p:txBody>
      </p:sp>
      <p:sp>
        <p:nvSpPr>
          <p:cNvPr id="241" name="Google Shape;241;g3b8df0275c8_0_3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Simple Concurrent Workflow</a:t>
            </a:r>
            <a:endParaRPr/>
          </a:p>
        </p:txBody>
      </p:sp>
      <p:sp>
        <p:nvSpPr>
          <p:cNvPr id="248" name="Google Shape;248;p21"/>
          <p:cNvSpPr txBox="1">
            <a:spLocks noGrp="1"/>
          </p:cNvSpPr>
          <p:nvPr>
            <p:ph type="body" idx="1"/>
          </p:nvPr>
        </p:nvSpPr>
        <p:spPr>
          <a:xfrm>
            <a:off x="838200" y="1825625"/>
            <a:ext cx="8514347" cy="4351338"/>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CA" sz="2100" b="1"/>
              <a:t>A concurrent workflow</a:t>
            </a:r>
            <a:r>
              <a:rPr lang="en-CA" sz="2100"/>
              <a:t> is a model in which </a:t>
            </a:r>
            <a:r>
              <a:rPr lang="en-CA" sz="2100" b="1"/>
              <a:t>multiple tasks or steps are executed at the same time</a:t>
            </a:r>
            <a:r>
              <a:rPr lang="en-CA" sz="2100"/>
              <a:t>, either in parallel or partially in parallel, instead of one after another (sequentially).</a:t>
            </a:r>
            <a:endParaRPr sz="2100"/>
          </a:p>
          <a:p>
            <a:pPr marL="0" lvl="0" indent="0" algn="l" rtl="0">
              <a:lnSpc>
                <a:spcPct val="115000"/>
              </a:lnSpc>
              <a:spcBef>
                <a:spcPts val="1200"/>
              </a:spcBef>
              <a:spcAft>
                <a:spcPts val="0"/>
              </a:spcAft>
              <a:buClr>
                <a:schemeClr val="dk1"/>
              </a:buClr>
              <a:buSzPts val="1100"/>
              <a:buFont typeface="Arial"/>
              <a:buNone/>
            </a:pPr>
            <a:r>
              <a:rPr lang="en-CA" sz="2100" b="1"/>
              <a:t>Basic concept</a:t>
            </a:r>
            <a:endParaRPr sz="2100" b="1"/>
          </a:p>
          <a:p>
            <a:pPr marL="457200" lvl="0" indent="-361950" algn="l" rtl="0">
              <a:lnSpc>
                <a:spcPct val="115000"/>
              </a:lnSpc>
              <a:spcBef>
                <a:spcPts val="1200"/>
              </a:spcBef>
              <a:spcAft>
                <a:spcPts val="0"/>
              </a:spcAft>
              <a:buSzPts val="2100"/>
              <a:buChar char="●"/>
            </a:pPr>
            <a:r>
              <a:rPr lang="en-CA" sz="2100" b="1"/>
              <a:t>Concurrent</a:t>
            </a:r>
            <a:r>
              <a:rPr lang="en-CA" sz="2100"/>
              <a:t>: A, B, and C can occur </a:t>
            </a:r>
            <a:r>
              <a:rPr lang="en-CA" sz="2100" b="1"/>
              <a:t>simultaneously</a:t>
            </a:r>
            <a:r>
              <a:rPr lang="en-CA" sz="2100"/>
              <a:t> or with </a:t>
            </a:r>
            <a:r>
              <a:rPr lang="en-CA" sz="2100" b="1"/>
              <a:t>overlapping execution time</a:t>
            </a:r>
            <a:endParaRPr sz="2100" b="1"/>
          </a:p>
          <a:p>
            <a:pPr marL="0" lvl="0" indent="0" algn="l" rtl="0">
              <a:lnSpc>
                <a:spcPct val="90000"/>
              </a:lnSpc>
              <a:spcBef>
                <a:spcPts val="1200"/>
              </a:spcBef>
              <a:spcAft>
                <a:spcPts val="0"/>
              </a:spcAft>
              <a:buClr>
                <a:schemeClr val="dk1"/>
              </a:buClr>
              <a:buSzPts val="28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g3b8df0275c8_0_4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Simple Concurrent Workflow</a:t>
            </a:r>
            <a:endParaRPr/>
          </a:p>
        </p:txBody>
      </p:sp>
      <p:sp>
        <p:nvSpPr>
          <p:cNvPr id="255" name="Google Shape;255;g3b8df0275c8_0_40"/>
          <p:cNvSpPr txBox="1">
            <a:spLocks noGrp="1"/>
          </p:cNvSpPr>
          <p:nvPr>
            <p:ph type="body" idx="1"/>
          </p:nvPr>
        </p:nvSpPr>
        <p:spPr>
          <a:xfrm>
            <a:off x="838200" y="1825625"/>
            <a:ext cx="85143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CA"/>
              <a:t>This engine implements fan-out and fan-in.</a:t>
            </a:r>
            <a:endParaRPr/>
          </a:p>
          <a:p>
            <a:pPr marL="0" lvl="0" indent="0" algn="l" rtl="0">
              <a:lnSpc>
                <a:spcPct val="90000"/>
              </a:lnSpc>
              <a:spcBef>
                <a:spcPts val="0"/>
              </a:spcBef>
              <a:spcAft>
                <a:spcPts val="0"/>
              </a:spcAft>
              <a:buClr>
                <a:schemeClr val="dk1"/>
              </a:buClr>
              <a:buSzPts val="2800"/>
              <a:buNone/>
            </a:pPr>
            <a:endParaRPr/>
          </a:p>
          <a:p>
            <a:pPr marL="0" lvl="0" indent="0" algn="l" rtl="0">
              <a:lnSpc>
                <a:spcPct val="90000"/>
              </a:lnSpc>
              <a:spcBef>
                <a:spcPts val="0"/>
              </a:spcBef>
              <a:spcAft>
                <a:spcPts val="0"/>
              </a:spcAft>
              <a:buClr>
                <a:schemeClr val="dk1"/>
              </a:buClr>
              <a:buSzPts val="2800"/>
              <a:buNone/>
            </a:pPr>
            <a:r>
              <a:rPr lang="en-CA"/>
              <a:t>Are patterns that enable parallel processing, allowing multiple executors or agents to work simultaneously and then aggregate their results.</a:t>
            </a:r>
            <a:endParaRPr/>
          </a:p>
        </p:txBody>
      </p:sp>
      <p:pic>
        <p:nvPicPr>
          <p:cNvPr id="256" name="Google Shape;256;g3b8df0275c8_0_40"/>
          <p:cNvPicPr preferRelativeResize="0"/>
          <p:nvPr/>
        </p:nvPicPr>
        <p:blipFill>
          <a:blip r:embed="rId3">
            <a:alphaModFix/>
          </a:blip>
          <a:stretch>
            <a:fillRect/>
          </a:stretch>
        </p:blipFill>
        <p:spPr>
          <a:xfrm>
            <a:off x="8819100" y="1606275"/>
            <a:ext cx="2534700" cy="252299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b8df0275c8_0_4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Simple Concurrent Workflow</a:t>
            </a:r>
            <a:endParaRPr/>
          </a:p>
        </p:txBody>
      </p:sp>
      <p:sp>
        <p:nvSpPr>
          <p:cNvPr id="263" name="Google Shape;263;g3b8df0275c8_0_49"/>
          <p:cNvSpPr txBox="1">
            <a:spLocks noGrp="1"/>
          </p:cNvSpPr>
          <p:nvPr>
            <p:ph type="body" idx="1"/>
          </p:nvPr>
        </p:nvSpPr>
        <p:spPr>
          <a:xfrm>
            <a:off x="838200" y="1825625"/>
            <a:ext cx="8514300" cy="43512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800"/>
              </a:spcBef>
              <a:spcAft>
                <a:spcPts val="0"/>
              </a:spcAft>
              <a:buClr>
                <a:schemeClr val="dk1"/>
              </a:buClr>
              <a:buSzPts val="1100"/>
              <a:buFont typeface="Arial"/>
              <a:buNone/>
            </a:pPr>
            <a:r>
              <a:rPr lang="en-CA" sz="2300" b="1"/>
              <a:t> </a:t>
            </a:r>
            <a:r>
              <a:rPr lang="en-CA" sz="2700" b="1"/>
              <a:t>Fan-out</a:t>
            </a:r>
            <a:endParaRPr sz="2700" b="1"/>
          </a:p>
          <a:p>
            <a:pPr marL="0" lvl="0" indent="0" algn="l" rtl="0">
              <a:lnSpc>
                <a:spcPct val="115000"/>
              </a:lnSpc>
              <a:spcBef>
                <a:spcPts val="1200"/>
              </a:spcBef>
              <a:spcAft>
                <a:spcPts val="0"/>
              </a:spcAft>
              <a:buClr>
                <a:schemeClr val="dk1"/>
              </a:buClr>
              <a:buSzPts val="1100"/>
              <a:buFont typeface="Arial"/>
              <a:buNone/>
            </a:pPr>
            <a:r>
              <a:rPr lang="en-CA" sz="2100" b="1"/>
              <a:t>Fan-out</a:t>
            </a:r>
            <a:r>
              <a:rPr lang="en-CA" sz="2100"/>
              <a:t> is when a </a:t>
            </a:r>
            <a:r>
              <a:rPr lang="en-CA" sz="2100" b="1"/>
              <a:t>main task triggers multiple tasks in parallel</a:t>
            </a:r>
            <a:r>
              <a:rPr lang="en-CA" sz="2100"/>
              <a:t>.</a:t>
            </a:r>
            <a:endParaRPr sz="2100"/>
          </a:p>
          <a:p>
            <a:pPr marL="457200" lvl="0" indent="-361950" algn="l" rtl="0">
              <a:lnSpc>
                <a:spcPct val="115000"/>
              </a:lnSpc>
              <a:spcBef>
                <a:spcPts val="1200"/>
              </a:spcBef>
              <a:spcAft>
                <a:spcPts val="0"/>
              </a:spcAft>
              <a:buSzPts val="2100"/>
              <a:buChar char="●"/>
            </a:pPr>
            <a:r>
              <a:rPr lang="en-CA" sz="2100"/>
              <a:t>Goal: split the work for simultaneous execution.</a:t>
            </a:r>
            <a:br>
              <a:rPr lang="en-CA" sz="2100"/>
            </a:br>
            <a:endParaRPr sz="2100"/>
          </a:p>
          <a:p>
            <a:pPr marL="457200" lvl="0" indent="-361950" algn="l" rtl="0">
              <a:lnSpc>
                <a:spcPct val="115000"/>
              </a:lnSpc>
              <a:spcBef>
                <a:spcPts val="0"/>
              </a:spcBef>
              <a:spcAft>
                <a:spcPts val="0"/>
              </a:spcAft>
              <a:buSzPts val="2100"/>
              <a:buChar char="●"/>
            </a:pPr>
            <a:r>
              <a:rPr lang="en-CA" sz="2100"/>
              <a:t>This can significantly improve performance when tasks are independent.</a:t>
            </a:r>
            <a:endParaRPr sz="2100"/>
          </a:p>
          <a:p>
            <a:pPr marL="0" lvl="0" indent="0" algn="l" rtl="0">
              <a:lnSpc>
                <a:spcPct val="90000"/>
              </a:lnSpc>
              <a:spcBef>
                <a:spcPts val="1200"/>
              </a:spcBef>
              <a:spcAft>
                <a:spcPts val="0"/>
              </a:spcAft>
              <a:buClr>
                <a:schemeClr val="dk1"/>
              </a:buClr>
              <a:buSzPts val="28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b8df0275c8_0_5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Simple Concurrent Workflow</a:t>
            </a:r>
            <a:endParaRPr/>
          </a:p>
        </p:txBody>
      </p:sp>
      <p:sp>
        <p:nvSpPr>
          <p:cNvPr id="270" name="Google Shape;270;g3b8df0275c8_0_56"/>
          <p:cNvSpPr txBox="1">
            <a:spLocks noGrp="1"/>
          </p:cNvSpPr>
          <p:nvPr>
            <p:ph type="body" idx="1"/>
          </p:nvPr>
        </p:nvSpPr>
        <p:spPr>
          <a:xfrm>
            <a:off x="838200" y="1825625"/>
            <a:ext cx="8514300" cy="43512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800"/>
              </a:spcBef>
              <a:spcAft>
                <a:spcPts val="0"/>
              </a:spcAft>
              <a:buNone/>
            </a:pPr>
            <a:r>
              <a:rPr lang="en-CA" sz="2900" b="1"/>
              <a:t>Fan-in</a:t>
            </a:r>
            <a:endParaRPr sz="2900" b="1"/>
          </a:p>
          <a:p>
            <a:pPr marL="0" lvl="0" indent="0" algn="l" rtl="0">
              <a:lnSpc>
                <a:spcPct val="115000"/>
              </a:lnSpc>
              <a:spcBef>
                <a:spcPts val="1200"/>
              </a:spcBef>
              <a:spcAft>
                <a:spcPts val="0"/>
              </a:spcAft>
              <a:buNone/>
            </a:pPr>
            <a:r>
              <a:rPr lang="en-CA" sz="2300" b="1"/>
              <a:t>Fan-in</a:t>
            </a:r>
            <a:r>
              <a:rPr lang="en-CA" sz="2300"/>
              <a:t> is when </a:t>
            </a:r>
            <a:r>
              <a:rPr lang="en-CA" sz="2300" b="1"/>
              <a:t>multiple parallel results are gathered into a single final task</a:t>
            </a:r>
            <a:r>
              <a:rPr lang="en-CA" sz="2300"/>
              <a:t>.</a:t>
            </a:r>
            <a:endParaRPr sz="2300"/>
          </a:p>
          <a:p>
            <a:pPr marL="457200" lvl="0" indent="-374650" algn="l" rtl="0">
              <a:lnSpc>
                <a:spcPct val="115000"/>
              </a:lnSpc>
              <a:spcBef>
                <a:spcPts val="1200"/>
              </a:spcBef>
              <a:spcAft>
                <a:spcPts val="0"/>
              </a:spcAft>
              <a:buSzPts val="2300"/>
              <a:buChar char="●"/>
            </a:pPr>
            <a:r>
              <a:rPr lang="en-CA" sz="2300"/>
              <a:t>Goal: consolidate results after the concurrent tasks finish.</a:t>
            </a:r>
            <a:endParaRPr sz="2300"/>
          </a:p>
          <a:p>
            <a:pPr marL="457200" lvl="0" indent="0" algn="l" rtl="0">
              <a:lnSpc>
                <a:spcPct val="115000"/>
              </a:lnSpc>
              <a:spcBef>
                <a:spcPts val="1200"/>
              </a:spcBef>
              <a:spcAft>
                <a:spcPts val="0"/>
              </a:spcAft>
              <a:buNone/>
            </a:pPr>
            <a:endParaRPr sz="2200" b="1"/>
          </a:p>
          <a:p>
            <a:pPr marL="0" lvl="0" indent="0" algn="l" rtl="0">
              <a:lnSpc>
                <a:spcPct val="90000"/>
              </a:lnSpc>
              <a:spcBef>
                <a:spcPts val="1200"/>
              </a:spcBef>
              <a:spcAft>
                <a:spcPts val="0"/>
              </a:spcAft>
              <a:buClr>
                <a:schemeClr val="dk1"/>
              </a:buClr>
              <a:buSzPts val="28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274"/>
        <p:cNvGrpSpPr/>
        <p:nvPr/>
      </p:nvGrpSpPr>
      <p:grpSpPr>
        <a:xfrm>
          <a:off x="0" y="0"/>
          <a:ext cx="0" cy="0"/>
          <a:chOff x="0" y="0"/>
          <a:chExt cx="0" cy="0"/>
        </a:xfrm>
      </p:grpSpPr>
      <p:sp>
        <p:nvSpPr>
          <p:cNvPr id="275" name="Google Shape;275;g3b8df0275c8_0_6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CA"/>
              <a:t>Why is Concurrent Workflow important?</a:t>
            </a:r>
            <a:endParaRPr/>
          </a:p>
        </p:txBody>
      </p:sp>
      <p:sp>
        <p:nvSpPr>
          <p:cNvPr id="276" name="Google Shape;276;g3b8df0275c8_0_6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0" algn="l" rtl="0">
              <a:lnSpc>
                <a:spcPct val="90000"/>
              </a:lnSpc>
              <a:spcBef>
                <a:spcPts val="0"/>
              </a:spcBef>
              <a:spcAft>
                <a:spcPts val="0"/>
              </a:spcAft>
              <a:buNone/>
            </a:pPr>
            <a:r>
              <a:rPr lang="en-CA"/>
              <a:t>Better performance and efficiency</a:t>
            </a:r>
            <a:endParaRPr/>
          </a:p>
          <a:p>
            <a:pPr marL="228600" lvl="0" indent="0" algn="l" rtl="0">
              <a:lnSpc>
                <a:spcPct val="90000"/>
              </a:lnSpc>
              <a:spcBef>
                <a:spcPts val="0"/>
              </a:spcBef>
              <a:spcAft>
                <a:spcPts val="0"/>
              </a:spcAft>
              <a:buNone/>
            </a:pPr>
            <a:r>
              <a:rPr lang="en-CA"/>
              <a:t>Processing large volumes of data (Big Data)</a:t>
            </a:r>
            <a:endParaRPr/>
          </a:p>
          <a:p>
            <a:pPr marL="228600" lvl="0" indent="0" algn="l" rtl="0">
              <a:lnSpc>
                <a:spcPct val="90000"/>
              </a:lnSpc>
              <a:spcBef>
                <a:spcPts val="0"/>
              </a:spcBef>
              <a:spcAft>
                <a:spcPts val="0"/>
              </a:spcAft>
              <a:buNone/>
            </a:pPr>
            <a:r>
              <a:rPr lang="en-CA"/>
              <a:t>Distributed model training</a:t>
            </a:r>
            <a:endParaRPr/>
          </a:p>
          <a:p>
            <a:pPr marL="228600" lvl="0" indent="0" algn="l" rtl="0">
              <a:lnSpc>
                <a:spcPct val="90000"/>
              </a:lnSpc>
              <a:spcBef>
                <a:spcPts val="0"/>
              </a:spcBef>
              <a:spcAft>
                <a:spcPts val="0"/>
              </a:spcAft>
              <a:buNone/>
            </a:pPr>
            <a:r>
              <a:rPr lang="en-CA"/>
              <a:t>Real-time inference</a:t>
            </a:r>
            <a:endParaRPr/>
          </a:p>
          <a:p>
            <a:pPr marL="228600" lvl="0" indent="0" algn="l" rtl="0">
              <a:lnSpc>
                <a:spcPct val="90000"/>
              </a:lnSpc>
              <a:spcBef>
                <a:spcPts val="0"/>
              </a:spcBef>
              <a:spcAft>
                <a:spcPts val="0"/>
              </a:spcAft>
              <a:buNone/>
            </a:pPr>
            <a:r>
              <a:rPr lang="en-CA"/>
              <a:t>Orchestration of multiple models or steps</a:t>
            </a: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281"/>
        <p:cNvGrpSpPr/>
        <p:nvPr/>
      </p:nvGrpSpPr>
      <p:grpSpPr>
        <a:xfrm>
          <a:off x="0" y="0"/>
          <a:ext cx="0" cy="0"/>
          <a:chOff x="0" y="0"/>
          <a:chExt cx="0" cy="0"/>
        </a:xfrm>
      </p:grpSpPr>
      <p:sp>
        <p:nvSpPr>
          <p:cNvPr id="282" name="Google Shape;282;g3b8df0275c8_0_7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CA"/>
              <a:t>Use cases</a:t>
            </a:r>
            <a:endParaRPr/>
          </a:p>
        </p:txBody>
      </p:sp>
      <p:sp>
        <p:nvSpPr>
          <p:cNvPr id="283" name="Google Shape;283;g3b8df0275c8_0_7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CA"/>
              <a:t>Creating </a:t>
            </a:r>
            <a:r>
              <a:rPr lang="en-CA" sz="2400"/>
              <a:t>the workflow which sends the 2 different questions or task to </a:t>
            </a:r>
            <a:r>
              <a:rPr lang="en-CA" sz="2400" b="1"/>
              <a:t>two different agents simultaneously</a:t>
            </a:r>
            <a:r>
              <a:rPr lang="en-CA" sz="2400"/>
              <a:t>.</a:t>
            </a:r>
            <a:endParaRPr sz="2400"/>
          </a:p>
          <a:p>
            <a:pPr marL="0" lvl="0" indent="0" algn="l" rtl="0">
              <a:spcBef>
                <a:spcPts val="1000"/>
              </a:spcBef>
              <a:spcAft>
                <a:spcPts val="0"/>
              </a:spcAft>
              <a:buNone/>
            </a:pPr>
            <a:endParaRPr sz="2400"/>
          </a:p>
          <a:p>
            <a:pPr marL="0" lvl="0" indent="0" algn="l" rtl="0">
              <a:lnSpc>
                <a:spcPct val="115000"/>
              </a:lnSpc>
              <a:spcBef>
                <a:spcPts val="1200"/>
              </a:spcBef>
              <a:spcAft>
                <a:spcPts val="0"/>
              </a:spcAft>
              <a:buNone/>
            </a:pPr>
            <a:r>
              <a:rPr lang="en-CA" sz="2000"/>
              <a:t>Creating a </a:t>
            </a:r>
            <a:r>
              <a:rPr lang="en-CA" sz="2000" b="1"/>
              <a:t>transaction validator with concurrent workflow</a:t>
            </a:r>
            <a:r>
              <a:rPr lang="en-CA" sz="2000"/>
              <a:t> where you can register agents and invoke 3 agents to validate a transaction based on a transaction history, using statistics to allow or block the transactions, involving geospatial, behavior analysis, and transaction pattern.</a:t>
            </a:r>
            <a:endParaRPr sz="2000"/>
          </a:p>
          <a:p>
            <a:pPr marL="0" lvl="0" indent="0" algn="l" rtl="0">
              <a:spcBef>
                <a:spcPts val="1200"/>
              </a:spcBef>
              <a:spcAft>
                <a:spcPts val="0"/>
              </a:spcAft>
              <a:buNone/>
            </a:pPr>
            <a:endParaRPr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3b8df0275c8_0_89"/>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Demo</a:t>
            </a:r>
            <a:endParaRPr/>
          </a:p>
        </p:txBody>
      </p:sp>
      <p:sp>
        <p:nvSpPr>
          <p:cNvPr id="290" name="Google Shape;290;g3b8df0275c8_0_89"/>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None/>
            </a:pPr>
            <a:r>
              <a:rPr lang="en-CA"/>
              <a:t>Simple Concurrent Workflow</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g3b8df0275c8_0_101"/>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Play"/>
              <a:buNone/>
            </a:pPr>
            <a:r>
              <a:rPr lang="en-CA"/>
              <a:t>Demo</a:t>
            </a:r>
            <a:endParaRPr/>
          </a:p>
        </p:txBody>
      </p:sp>
      <p:sp>
        <p:nvSpPr>
          <p:cNvPr id="297" name="Google Shape;297;g3b8df0275c8_0_101"/>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57575"/>
              </a:buClr>
              <a:buSzPts val="2400"/>
              <a:buFont typeface="Arial"/>
              <a:buNone/>
            </a:pPr>
            <a:r>
              <a:rPr lang="en-CA"/>
              <a:t>Transaction Validator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515E-43F9-3941-B9F5-64DCF6AC2F83}"/>
              </a:ext>
            </a:extLst>
          </p:cNvPr>
          <p:cNvSpPr>
            <a:spLocks noGrp="1"/>
          </p:cNvSpPr>
          <p:nvPr>
            <p:ph type="title"/>
          </p:nvPr>
        </p:nvSpPr>
        <p:spPr/>
        <p:txBody>
          <a:bodyPr/>
          <a:lstStyle/>
          <a:p>
            <a:r>
              <a:rPr lang="en-US" dirty="0"/>
              <a:t>Tutorials</a:t>
            </a:r>
          </a:p>
        </p:txBody>
      </p:sp>
      <p:sp>
        <p:nvSpPr>
          <p:cNvPr id="3" name="Text Placeholder 2">
            <a:extLst>
              <a:ext uri="{FF2B5EF4-FFF2-40B4-BE49-F238E27FC236}">
                <a16:creationId xmlns:a16="http://schemas.microsoft.com/office/drawing/2014/main" id="{D8434F75-8A9B-93B2-9237-570C43D1260E}"/>
              </a:ext>
            </a:extLst>
          </p:cNvPr>
          <p:cNvSpPr>
            <a:spLocks noGrp="1"/>
          </p:cNvSpPr>
          <p:nvPr>
            <p:ph type="body" idx="1"/>
          </p:nvPr>
        </p:nvSpPr>
        <p:spPr/>
        <p:txBody>
          <a:bodyPr>
            <a:normAutofit/>
          </a:bodyPr>
          <a:lstStyle/>
          <a:p>
            <a:r>
              <a:rPr lang="en-CA" sz="5400" dirty="0"/>
              <a:t>https://</a:t>
            </a:r>
            <a:r>
              <a:rPr lang="en-CA" sz="5400" dirty="0" err="1"/>
              <a:t>surl.li</a:t>
            </a:r>
            <a:r>
              <a:rPr lang="en-CA" sz="5400" dirty="0"/>
              <a:t>/</a:t>
            </a:r>
            <a:r>
              <a:rPr lang="en-CA" sz="5400" dirty="0" err="1"/>
              <a:t>niihte</a:t>
            </a:r>
            <a:endParaRPr lang="en-CA" sz="5400" dirty="0"/>
          </a:p>
        </p:txBody>
      </p:sp>
    </p:spTree>
    <p:extLst>
      <p:ext uri="{BB962C8B-B14F-4D97-AF65-F5344CB8AC3E}">
        <p14:creationId xmlns:p14="http://schemas.microsoft.com/office/powerpoint/2010/main" val="207520822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3130</Words>
  <Application>Microsoft Macintosh PowerPoint</Application>
  <PresentationFormat>Widescreen</PresentationFormat>
  <Paragraphs>422</Paragraphs>
  <Slides>31</Slides>
  <Notes>31</Notes>
  <HiddenSlides>5</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Play</vt:lpstr>
      <vt:lpstr>Office Theme</vt:lpstr>
      <vt:lpstr>Microsoft Agent Framework Workshop</vt:lpstr>
      <vt:lpstr>What is Microsoft Agent Framework?</vt:lpstr>
      <vt:lpstr>PowerPoint Presentation</vt:lpstr>
      <vt:lpstr>Microsoft Agent Framework</vt:lpstr>
      <vt:lpstr>PowerPoint Presentation</vt:lpstr>
      <vt:lpstr>PowerPoint Presentation</vt:lpstr>
      <vt:lpstr>Why Build Agents in Code?</vt:lpstr>
      <vt:lpstr>Topics and Workshops</vt:lpstr>
      <vt:lpstr>Producing Structured Output with Agents</vt:lpstr>
      <vt:lpstr>What is structured output with an agent?</vt:lpstr>
      <vt:lpstr>Why is structured output important?</vt:lpstr>
      <vt:lpstr>Why is structured output important?</vt:lpstr>
      <vt:lpstr>Another Use Case</vt:lpstr>
      <vt:lpstr>Demonstration</vt:lpstr>
      <vt:lpstr>Producing Structured Output with Agents</vt:lpstr>
      <vt:lpstr>Simple sequential workflow</vt:lpstr>
      <vt:lpstr>Simple Sequential Workflow</vt:lpstr>
      <vt:lpstr>Simple Sequential Workflow</vt:lpstr>
      <vt:lpstr>Simple Sequential Workflow</vt:lpstr>
      <vt:lpstr>Simple Sequential Workflow</vt:lpstr>
      <vt:lpstr>Demo</vt:lpstr>
      <vt:lpstr>Concurrent Workflow</vt:lpstr>
      <vt:lpstr>Simple Concurrent Workflow</vt:lpstr>
      <vt:lpstr>Simple Concurrent Workflow</vt:lpstr>
      <vt:lpstr>Simple Concurrent Workflow</vt:lpstr>
      <vt:lpstr>Simple Concurrent Workflow</vt:lpstr>
      <vt:lpstr>Why is Concurrent Workflow important?</vt:lpstr>
      <vt:lpstr>Use cases</vt:lpstr>
      <vt:lpstr>Demo</vt:lpstr>
      <vt:lpstr>Demo</vt:lpstr>
      <vt:lpstr>Tutorials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Medhat Elmasry</dc:creator>
  <cp:lastModifiedBy>Medhat Elmasry</cp:lastModifiedBy>
  <cp:revision>2</cp:revision>
  <dcterms:created xsi:type="dcterms:W3CDTF">2026-01-12T19:58:18Z</dcterms:created>
  <dcterms:modified xsi:type="dcterms:W3CDTF">2026-01-21T02:03:02Z</dcterms:modified>
</cp:coreProperties>
</file>