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30"/>
  </p:normalViewPr>
  <p:slideViewPr>
    <p:cSldViewPr snapToGrid="0">
      <p:cViewPr varScale="1">
        <p:scale>
          <a:sx n="119" d="100"/>
          <a:sy n="119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7FE2C-D462-6AF6-2346-C038C6CD11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7577-4678-ABC2-1431-9735884ECB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51C05-85FF-3164-87C7-E273DFE8E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D40295-0ECB-D560-7907-BA2893684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094ACE-6E74-50E7-15C1-C03B75900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76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0B6E5-1576-FD36-D210-A5DB2066A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0FE39-91BD-777A-79E1-1A156A72C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7E5C5F-81C3-D1B3-5929-5CA8C31F6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CA3F64-1E67-5180-6C94-7651FE97C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72D0FE-FEB4-2D8A-DEEB-FDD9A0A99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532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F29B8-B876-A94D-860D-23978768A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E36978-FA01-7BA7-E992-67B0D1DDB0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6CB8C-51CA-EAA1-8E9D-81DAEA624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03153-BF56-B569-6B6F-1E8154E31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D1B57-68D4-69FF-9D57-432DC8BA9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0961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B8ECC-2C2E-F1F8-C4FE-C875926FF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EE9AB-F93F-F180-87BA-0F3C763AA7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8DE520-BFE2-D7D6-E8CB-135E7CA8FE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46984-0EFB-BE1F-B6F8-FA0A32985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58A858-E22D-97F7-A366-10C9CB82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BE665D-01D0-7A3E-85C8-B516896EA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23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51263-2414-6CE7-A709-2A05E0F6E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EF92B-7A0A-F1C1-CFCB-783BAB1A3A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B34747-4A12-F814-820C-DE2ACDCD4D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7B8341-72A5-9F57-E805-B13534DCFB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DC8ACF-A7F6-5952-6509-FF941303C2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9491F3-DA8E-CDB4-12E2-5A7B4D01F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24BBEF-CCB8-A56C-2F47-3E38AC826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40CD1C-37C6-08F5-9FBF-970DF64B7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709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BE463-3D45-B27C-50C3-C391020AA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C19DBF-3F9A-4065-04D7-412D9B9D3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8F15DC-FE2E-5665-47C6-A9D3A0DC2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38BE93-7CA4-0350-DED4-C56DA1908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696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0DC29C-20D8-2F60-8A63-B8D8B047C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22C2B9-C867-B166-C216-10F7EE185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BFAA9-CBC1-CBD7-673C-E29CEB5A7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370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684FB-BB4B-4144-B285-C3A2E7025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CDCDF-41E8-2C78-09AA-363A0133B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B87200-CE37-1BF6-77DA-ED03FDFA8B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784BDA-A3EC-A539-47A4-44991A042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D0E38-044A-2E02-8321-53B85C9D6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6E0359-13B4-9D7D-AC41-F13EDD351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4950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3F8DA-EBDA-4934-5BE7-A67DAC631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7B441E-250C-9012-7690-38D4F4718C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E2212C-7593-4E3D-E3C9-532C0732B3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F9B57D-E90B-1CFF-57DC-05B57D6B4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86070A-435E-0817-7DEC-97DA8BC27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E7FDFA-1AC9-EAE6-8F3F-837429358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730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126FB-6BA6-4B3B-12D4-1320918D9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0D886D-EA63-CEDA-60F0-31E2BF7F8A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3D4B3-558E-29E6-BC57-442E6D749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0FA3E8-B12C-CFAA-6A93-65C6C0B4D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99C37F-6548-EFD2-56E9-723C3220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164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9AEAFB-48B4-095C-0D98-4EE49CC9E6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663208-868D-6FC2-3447-426A6F84B4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24282-D67C-8C40-9588-B9D7FF5B3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0A59EE-8FC5-DEF0-62A5-CAF2F3CE9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19B4C-D5F5-237A-1FB7-62A60E12B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76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4F5C33-2539-109C-B5A4-7355E95C6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F766F9-716A-651B-5E85-9C4C3062EA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331602-FD18-5F0F-A45D-8D75BD40DF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1DB9ED-E045-134F-B3F2-C9B359932CA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C451D-FC50-E7E2-AB27-BF9F3D458E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F5C4DB-2803-3A47-4875-00912DD45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641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5EFDA-2945-9863-8C4A-17B6374397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Microsoft Agent Framework Workshop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7D6AD6-DBBB-B972-47F8-01187B86DB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256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C88F9-CA86-57A1-9F0C-B72D14F05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42BC-6879-79A6-8169-BB7F4BC3C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Producing Structured Output with Agents</a:t>
            </a:r>
          </a:p>
          <a:p>
            <a:r>
              <a:rPr lang="en-US" dirty="0"/>
              <a:t>Using an agent as a function tool</a:t>
            </a:r>
          </a:p>
          <a:p>
            <a:r>
              <a:rPr lang="en-US" dirty="0"/>
              <a:t>Create a Simple Sequential Workflow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80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0BC60-C615-E762-9323-7F160490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Producing Structured Output with Agents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0159F-28F5-84F6-8C8F-D473545F5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270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A651B-EE1E-7DAE-9E63-ADC851277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structured output with an agent?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A529-D423-F01C-A412-975BEA452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Structured output with an agent means that an AI agent is designed to return its results in a predefined, machine-readable format, instead of free-form text</a:t>
            </a:r>
          </a:p>
          <a:p>
            <a:r>
              <a:rPr lang="en-US" dirty="0"/>
              <a:t>In simple terms:</a:t>
            </a:r>
          </a:p>
          <a:p>
            <a:pPr marL="0" indent="0">
              <a:buNone/>
            </a:pPr>
            <a:r>
              <a:rPr lang="en-US" dirty="0"/>
              <a:t>👉 the agent doesn’t just talk — it responds with data that other systems can reliably consume.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853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1D2BA-E338-693C-B857-63CCEBFFC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is structured output important?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AC2217-BED9-5007-E892-FD0D38EB9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Structured output is important because it makes AI reliable, automatable, and safe to integrate into real systems.</a:t>
            </a:r>
          </a:p>
          <a:p>
            <a:r>
              <a:rPr lang="en-US" dirty="0"/>
              <a:t>We can enable dynamic analysis of business rules.</a:t>
            </a:r>
          </a:p>
          <a:p>
            <a:r>
              <a:rPr lang="en-US" dirty="0"/>
              <a:t>For example, a fintech operating with Bitcoin and equities needs to send user-friendly notifications about:</a:t>
            </a:r>
          </a:p>
          <a:p>
            <a:pPr lvl="1"/>
            <a:r>
              <a:rPr lang="en-US" dirty="0"/>
              <a:t>new investments</a:t>
            </a:r>
          </a:p>
          <a:p>
            <a:pPr lvl="1"/>
            <a:r>
              <a:rPr lang="en-US" dirty="0"/>
              <a:t>price appreciation and depreciation,</a:t>
            </a:r>
          </a:p>
          <a:p>
            <a:pPr lvl="1"/>
            <a:r>
              <a:rPr lang="en-US" dirty="0"/>
              <a:t>market movements and growth trends.</a:t>
            </a:r>
          </a:p>
        </p:txBody>
      </p:sp>
    </p:spTree>
    <p:extLst>
      <p:ext uri="{BB962C8B-B14F-4D97-AF65-F5344CB8AC3E}">
        <p14:creationId xmlns:p14="http://schemas.microsoft.com/office/powerpoint/2010/main" val="41623560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ED850-934C-D220-CFB1-ABB886BAF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structured output important?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FC3D6-0506-7108-8F6C-B7239574E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can design a set of microservices, exposing APIs that receive data and instructions, supported by classes that can interact with one another.</a:t>
            </a:r>
            <a:br>
              <a:rPr lang="en-US" dirty="0"/>
            </a:br>
            <a:r>
              <a:rPr lang="en-US" dirty="0"/>
              <a:t> Each class encapsulates its own AI-driven business logic and is able to orchestrate with other components, producing high-quality and consistent results.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5394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66805-D4D2-EFDF-D088-406FD03F1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06D2B-6F02-B58B-D1DF-782050172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Another use case is leveraging structured inputs, such as friendly, guided questions, and connecting the agent directly to database inputs.</a:t>
            </a:r>
          </a:p>
          <a:p>
            <a:r>
              <a:rPr lang="en-US" dirty="0"/>
              <a:t>Additionally, we can:</a:t>
            </a:r>
          </a:p>
          <a:p>
            <a:pPr lvl="1"/>
            <a:r>
              <a:rPr lang="en-US" dirty="0"/>
              <a:t>define regex-based rules for data filtering</a:t>
            </a:r>
          </a:p>
          <a:p>
            <a:pPr lvl="1"/>
            <a:r>
              <a:rPr lang="en-US" dirty="0"/>
              <a:t>orchestrate API workflows</a:t>
            </a:r>
          </a:p>
          <a:p>
            <a:pPr lvl="1"/>
            <a:r>
              <a:rPr lang="en-US" dirty="0"/>
              <a:t>perform data transformation and enrichment</a:t>
            </a:r>
          </a:p>
          <a:p>
            <a:r>
              <a:rPr lang="en-US" dirty="0"/>
              <a:t>In this context, structured output allows us to make our APIs significantly more dynamic, enabling them to produce precise, actionable, and business-oriented information.</a:t>
            </a:r>
          </a:p>
          <a:p>
            <a:r>
              <a:rPr lang="en-US" dirty="0"/>
              <a:t>What would traditionally require two development sprints to implement a complex architecture can be delivered in significantly less time using structured output, with greater predictability, lower complexity, and faster time to value.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26382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EA734-04ED-6057-EE12-3A1234170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77C13-8CB3-0F97-CCE3-39E0D52CA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Producing Structured Output with Agents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7AA632-9795-6CDA-71BD-74E2E66902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2275251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BAC40C-AD99-ED98-D324-94A9D485B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Demonstration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086445-8FE7-D98F-DD98-DFE92F4F9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PATCH /employees:</a:t>
            </a:r>
            <a:br>
              <a:rPr lang="en-US" dirty="0"/>
            </a:br>
            <a:r>
              <a:rPr lang="en-US" dirty="0"/>
              <a:t>Reads Chat Config, executes an Azure OpenAI agent that generates an </a:t>
            </a:r>
            <a:r>
              <a:rPr lang="en-US" dirty="0" err="1"/>
              <a:t>AIResponse</a:t>
            </a:r>
            <a:r>
              <a:rPr lang="en-US" dirty="0"/>
              <a:t>, which is used as a filter (</a:t>
            </a:r>
            <a:r>
              <a:rPr lang="en-US" dirty="0" err="1"/>
              <a:t>filter.AIAnswer</a:t>
            </a:r>
            <a:r>
              <a:rPr lang="en-US" dirty="0"/>
              <a:t>) to query the Employee Repository, and return the list of employees.</a:t>
            </a:r>
          </a:p>
          <a:p>
            <a:endParaRPr lang="en-US" dirty="0"/>
          </a:p>
          <a:p>
            <a:r>
              <a:rPr lang="en-US" dirty="0"/>
              <a:t>POST /agent-run:</a:t>
            </a:r>
            <a:br>
              <a:rPr lang="en-US" dirty="0"/>
            </a:br>
            <a:r>
              <a:rPr lang="en-US" dirty="0"/>
              <a:t>Reads Chat Config, executes an Azure OpenAI agent that produces a </a:t>
            </a:r>
            <a:r>
              <a:rPr lang="en-US" dirty="0" err="1"/>
              <a:t>PersonInfo</a:t>
            </a:r>
            <a:r>
              <a:rPr lang="en-US" dirty="0"/>
              <a:t> JSON, deserializes it, and returns the </a:t>
            </a:r>
            <a:r>
              <a:rPr lang="en-US" dirty="0" err="1"/>
              <a:t>PersonInfo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6911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CD7B5-6A72-6048-2B2E-04713365A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44267-8FD1-E90A-86E2-2FA9E556F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an agent as a function tool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63DAD-B891-5E7F-B21C-B7872F23B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126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CA2539-F6F6-BF9B-DFB4-11E15B039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as a function tool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3E9DE1-CFD1-64A9-4C84-7E47819F6D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agent as a function tool means treating an AI agent like a callable function inside your system — with defined inputs, a clear contract, and structured outputs, instead of free-form conversation.</a:t>
            </a:r>
          </a:p>
          <a:p>
            <a:endParaRPr lang="en-US" dirty="0"/>
          </a:p>
          <a:p>
            <a:r>
              <a:rPr lang="en-US" dirty="0"/>
              <a:t>In other words:</a:t>
            </a:r>
          </a:p>
          <a:p>
            <a:pPr marL="0" indent="0">
              <a:buNone/>
            </a:pPr>
            <a:r>
              <a:rPr lang="en-US" dirty="0"/>
              <a:t>👉 the agent behaves like software, not a chatbot</a:t>
            </a:r>
          </a:p>
        </p:txBody>
      </p:sp>
    </p:spTree>
    <p:extLst>
      <p:ext uri="{BB962C8B-B14F-4D97-AF65-F5344CB8AC3E}">
        <p14:creationId xmlns:p14="http://schemas.microsoft.com/office/powerpoint/2010/main" val="1520377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EE92C-DB1C-C4F8-9D2F-E74F49D00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Core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856F2-A4F0-8014-CDDF-8D9CEF8D2B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Traditional agent:</a:t>
            </a:r>
          </a:p>
          <a:p>
            <a:pPr lvl="1"/>
            <a:r>
              <a:rPr lang="en-US" dirty="0"/>
              <a:t>Conversational</a:t>
            </a:r>
          </a:p>
          <a:p>
            <a:pPr lvl="1"/>
            <a:r>
              <a:rPr lang="en-US" dirty="0"/>
              <a:t>Unstructured text output</a:t>
            </a:r>
          </a:p>
          <a:p>
            <a:pPr lvl="1"/>
            <a:r>
              <a:rPr lang="en-US" dirty="0"/>
              <a:t>Hard to integrate</a:t>
            </a:r>
          </a:p>
          <a:p>
            <a:r>
              <a:rPr lang="en-US" dirty="0"/>
              <a:t>Agent as a function tool:</a:t>
            </a:r>
          </a:p>
          <a:p>
            <a:pPr lvl="1"/>
            <a:r>
              <a:rPr lang="en-US" dirty="0"/>
              <a:t>Invoked programmatically</a:t>
            </a:r>
          </a:p>
          <a:p>
            <a:pPr lvl="1"/>
            <a:r>
              <a:rPr lang="en-US" dirty="0"/>
              <a:t>Receives structured input</a:t>
            </a:r>
          </a:p>
          <a:p>
            <a:pPr lvl="1"/>
            <a:r>
              <a:rPr lang="en-US" dirty="0"/>
              <a:t>Returns structured output</a:t>
            </a:r>
          </a:p>
          <a:p>
            <a:pPr lvl="1"/>
            <a:r>
              <a:rPr lang="en-US" dirty="0"/>
              <a:t>Can be composed, validated, and reused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8718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6E252-8A50-63C8-EC4E-EEF5FC5EE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C334A-B6D3-A75D-6FE5-D883D4E4E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Prerequisites: Set up the environment (Azure, .NET, packages)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C# function: Write a method with discrete business logic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Convert to tool: Use </a:t>
            </a:r>
            <a:r>
              <a:rPr lang="en-US" i="1" dirty="0" err="1"/>
              <a:t>AIFunctionFactory.Create</a:t>
            </a:r>
            <a:endParaRPr lang="en-US" i="1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agent: Inject tools when creating the </a:t>
            </a:r>
            <a:r>
              <a:rPr lang="en-US" i="1" dirty="0" err="1"/>
              <a:t>AIAgent</a:t>
            </a:r>
            <a:endParaRPr lang="en-US" i="1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Invoke / test: Send a prompt to the agent and evaluate the response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Agent as tool (advanced): Expose an agent as a tool for other agents</a:t>
            </a:r>
          </a:p>
        </p:txBody>
      </p:sp>
    </p:spTree>
    <p:extLst>
      <p:ext uri="{BB962C8B-B14F-4D97-AF65-F5344CB8AC3E}">
        <p14:creationId xmlns:p14="http://schemas.microsoft.com/office/powerpoint/2010/main" val="27193866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CF306-DC66-0BCB-250A-F41AE0803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92D7A-7E15-F526-EE51-B78BA3F55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an agent as a function tool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3E86B-4EE2-1CC0-A776-E45394FD7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8730582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8E3A6-A611-BB92-A910-90FDBE6A7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2BFD1-41E7-DE4D-ECAD-6D8EFAF7E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Plan Presentation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64A273-7EA9-9BF0-92F7-EF3412F20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88461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9212A-07BD-FB08-C865-BEBA0BD4C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84EA9-3830-94AE-8775-B6B9DC87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Workflows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DFDD2B-EA92-2211-DAF0-2A21CA01F9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6513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D23F8-02F0-700A-7EBF-5D55986E7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17FB1-345B-2816-5A6E-2E9F0992F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Microsoft’s Sequential Workflow is an AI orchestration model in which multiple steps are executed in a fixed order, in a deterministic and controlled manner, using agents, tools, and structured outputs.</a:t>
            </a:r>
          </a:p>
          <a:p>
            <a:r>
              <a:rPr lang="en-US" dirty="0"/>
              <a:t>It is part of the Microsoft Agent Framework and is designed for predictable, business-critical processes, rather than open-ended conversations.</a:t>
            </a:r>
          </a:p>
          <a:p>
            <a:r>
              <a:rPr lang="en-US" dirty="0"/>
              <a:t>In simple terms</a:t>
            </a:r>
          </a:p>
          <a:p>
            <a:pPr lvl="1"/>
            <a:r>
              <a:rPr lang="en-US" dirty="0"/>
              <a:t>“Execute Step A → then Step B → then Step C,</a:t>
            </a:r>
            <a:br>
              <a:rPr lang="en-US" dirty="0"/>
            </a:br>
            <a:r>
              <a:rPr lang="en-US" dirty="0"/>
              <a:t> passing the output of one step as the input to the next.”</a:t>
            </a:r>
          </a:p>
        </p:txBody>
      </p:sp>
    </p:spTree>
    <p:extLst>
      <p:ext uri="{BB962C8B-B14F-4D97-AF65-F5344CB8AC3E}">
        <p14:creationId xmlns:p14="http://schemas.microsoft.com/office/powerpoint/2010/main" val="39036454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38F91-F0DA-2F8A-4745-AEF4F47DD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8A9C6-F2B4-C7A5-FBCE-D53236FE8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F089D-43DF-6579-1C5C-EFC89DE57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Each step can:</a:t>
            </a:r>
          </a:p>
          <a:p>
            <a:pPr lvl="1"/>
            <a:r>
              <a:rPr lang="en-US" dirty="0"/>
              <a:t>invoke an AI agent</a:t>
            </a:r>
          </a:p>
          <a:p>
            <a:pPr lvl="1"/>
            <a:r>
              <a:rPr lang="en-US" dirty="0"/>
              <a:t>call a function tool</a:t>
            </a:r>
          </a:p>
          <a:p>
            <a:pPr lvl="1"/>
            <a:r>
              <a:rPr lang="en-US" dirty="0"/>
              <a:t>validate structured output</a:t>
            </a:r>
          </a:p>
          <a:p>
            <a:r>
              <a:rPr lang="en-US" dirty="0"/>
              <a:t>decide whether to continue, stop, or fail the workflow</a:t>
            </a:r>
          </a:p>
          <a:p>
            <a:r>
              <a:rPr lang="en-US" dirty="0"/>
              <a:t>Key characteristics of a Sequential Workflow</a:t>
            </a:r>
          </a:p>
          <a:p>
            <a:pPr marL="457200" lvl="1" indent="0">
              <a:buNone/>
            </a:pPr>
            <a:r>
              <a:rPr lang="en-US" dirty="0"/>
              <a:t>✔ Linear, ordered execution</a:t>
            </a:r>
          </a:p>
          <a:p>
            <a:pPr marL="457200" lvl="1" indent="0">
              <a:buNone/>
            </a:pPr>
            <a:r>
              <a:rPr lang="en-US" dirty="0"/>
              <a:t>✔ Each step depends on the previous step’s output</a:t>
            </a:r>
          </a:p>
          <a:p>
            <a:pPr marL="457200" lvl="1" indent="0">
              <a:buNone/>
            </a:pPr>
            <a:r>
              <a:rPr lang="en-US" dirty="0"/>
              <a:t>✔ Structured inputs and outputs</a:t>
            </a:r>
          </a:p>
          <a:p>
            <a:pPr marL="457200" lvl="1" indent="0">
              <a:buNone/>
            </a:pPr>
            <a:r>
              <a:rPr lang="en-US" dirty="0"/>
              <a:t>✔ Easy to audit, test, and monitor</a:t>
            </a:r>
          </a:p>
          <a:p>
            <a:pPr marL="457200" lvl="1" indent="0">
              <a:buNone/>
            </a:pPr>
            <a:r>
              <a:rPr lang="en-US" dirty="0"/>
              <a:t>✔ Ideal for regulated and enterprise workflows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32367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F2307-83D0-AD35-EEA3-A39508174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0E3D7-0D8E-C778-E9E6-CF69DC55F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Workflows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7FDF27-23F0-7F3B-637F-6921B9731F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533470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738</Words>
  <Application>Microsoft Macintosh PowerPoint</Application>
  <PresentationFormat>Widescreen</PresentationFormat>
  <Paragraphs>79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Microsoft Agent Framework Workshop</vt:lpstr>
      <vt:lpstr>Topics</vt:lpstr>
      <vt:lpstr>Producing Structured Output with Agents</vt:lpstr>
      <vt:lpstr>What is structured output with an agent?</vt:lpstr>
      <vt:lpstr>Why is structured output important?</vt:lpstr>
      <vt:lpstr>Why is structured output important?</vt:lpstr>
      <vt:lpstr>Another Use Case</vt:lpstr>
      <vt:lpstr>Producing Structured Output with Agents</vt:lpstr>
      <vt:lpstr>Demonstration</vt:lpstr>
      <vt:lpstr>Using an agent as a function tool</vt:lpstr>
      <vt:lpstr>Agent as a function tool </vt:lpstr>
      <vt:lpstr>Core idea</vt:lpstr>
      <vt:lpstr>Process</vt:lpstr>
      <vt:lpstr>Using an agent as a function tool</vt:lpstr>
      <vt:lpstr>Business Plan Presentation</vt:lpstr>
      <vt:lpstr>Sequential Workflows</vt:lpstr>
      <vt:lpstr>Sequential Workflows</vt:lpstr>
      <vt:lpstr>Sequential Workflows</vt:lpstr>
      <vt:lpstr>Sequential Workflows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Medhat Elmasry</dc:creator>
  <cp:lastModifiedBy>Medhat Elmasry</cp:lastModifiedBy>
  <cp:revision>2</cp:revision>
  <dcterms:created xsi:type="dcterms:W3CDTF">2026-01-12T19:58:18Z</dcterms:created>
  <dcterms:modified xsi:type="dcterms:W3CDTF">2026-01-12T23:32:22Z</dcterms:modified>
</cp:coreProperties>
</file>