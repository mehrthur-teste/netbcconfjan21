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75" r:id="rId3"/>
    <p:sldId id="276" r:id="rId4"/>
    <p:sldId id="277" r:id="rId5"/>
    <p:sldId id="278" r:id="rId6"/>
    <p:sldId id="279" r:id="rId7"/>
    <p:sldId id="280" r:id="rId8"/>
    <p:sldId id="281" r:id="rId9"/>
    <p:sldId id="257" r:id="rId10"/>
    <p:sldId id="261" r:id="rId11"/>
    <p:sldId id="258" r:id="rId12"/>
    <p:sldId id="259" r:id="rId13"/>
    <p:sldId id="260" r:id="rId14"/>
    <p:sldId id="262" r:id="rId15"/>
    <p:sldId id="264" r:id="rId16"/>
    <p:sldId id="263" r:id="rId17"/>
    <p:sldId id="265" r:id="rId18"/>
    <p:sldId id="282" r:id="rId19"/>
    <p:sldId id="295" r:id="rId20"/>
    <p:sldId id="296" r:id="rId21"/>
    <p:sldId id="297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24"/>
    <p:restoredTop sz="94730"/>
  </p:normalViewPr>
  <p:slideViewPr>
    <p:cSldViewPr snapToGrid="0">
      <p:cViewPr varScale="1">
        <p:scale>
          <a:sx n="119" d="100"/>
          <a:sy n="119" d="100"/>
        </p:scale>
        <p:origin x="3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E52D07B-FB53-8641-A193-416C3B5D096E}" type="doc">
      <dgm:prSet loTypeId="urn:microsoft.com/office/officeart/2005/8/layout/pList2" loCatId="" qsTypeId="urn:microsoft.com/office/officeart/2005/8/quickstyle/simple1" qsCatId="simple" csTypeId="urn:microsoft.com/office/officeart/2005/8/colors/accent1_2" csCatId="accent1" phldr="1"/>
      <dgm:spPr/>
    </dgm:pt>
    <dgm:pt modelId="{08CCB7C7-3263-3445-839F-2D63FE5E91A9}">
      <dgm:prSet phldrT="[Text]"/>
      <dgm:spPr/>
      <dgm:t>
        <a:bodyPr/>
        <a:lstStyle/>
        <a:p>
          <a:pPr>
            <a:buNone/>
          </a:pPr>
          <a:r>
            <a:rPr lang="en-CA" b="1" dirty="0"/>
            <a:t>Full Control &amp; Customization</a:t>
          </a:r>
          <a:br>
            <a:rPr lang="en-CA" b="1" dirty="0"/>
          </a:br>
          <a:endParaRPr lang="en-CA" b="1" dirty="0"/>
        </a:p>
        <a:p>
          <a:pPr>
            <a:buNone/>
          </a:pPr>
          <a:r>
            <a:rPr lang="en-CA" dirty="0"/>
            <a:t>Code-first agents can use any model, tool, or data source - not limited to pre-defined connectors or templates</a:t>
          </a:r>
          <a:endParaRPr lang="en-US" dirty="0"/>
        </a:p>
      </dgm:t>
    </dgm:pt>
    <dgm:pt modelId="{61E694DC-1600-9D40-8DA8-97C3E23C7627}" type="parTrans" cxnId="{D0CF1DD6-DAF9-3142-A971-956F0DE3D91E}">
      <dgm:prSet/>
      <dgm:spPr/>
      <dgm:t>
        <a:bodyPr/>
        <a:lstStyle/>
        <a:p>
          <a:endParaRPr lang="en-US"/>
        </a:p>
      </dgm:t>
    </dgm:pt>
    <dgm:pt modelId="{B5D48B55-2416-554D-88B0-186B34DEE163}" type="sibTrans" cxnId="{D0CF1DD6-DAF9-3142-A971-956F0DE3D91E}">
      <dgm:prSet/>
      <dgm:spPr/>
      <dgm:t>
        <a:bodyPr/>
        <a:lstStyle/>
        <a:p>
          <a:endParaRPr lang="en-US"/>
        </a:p>
      </dgm:t>
    </dgm:pt>
    <dgm:pt modelId="{0708E886-B9A1-8745-AB23-2C4AE2B6D9ED}">
      <dgm:prSet phldrT="[Text]"/>
      <dgm:spPr/>
      <dgm:t>
        <a:bodyPr/>
        <a:lstStyle/>
        <a:p>
          <a:pPr>
            <a:buNone/>
          </a:pPr>
          <a:r>
            <a:rPr lang="en-CA" b="1" dirty="0"/>
            <a:t>Local Experimentation</a:t>
          </a:r>
          <a:br>
            <a:rPr lang="en-CA" b="1" dirty="0"/>
          </a:br>
          <a:endParaRPr lang="en-CA" dirty="0"/>
        </a:p>
        <a:p>
          <a:pPr>
            <a:buNone/>
          </a:pPr>
          <a:r>
            <a:rPr lang="en-CA" dirty="0"/>
            <a:t>Run agents on your laptop with your preferred IDEs (VS Code, GitHub) with no cloud dependency; debug, test, and integrate into CI/CD pipelines before scaling</a:t>
          </a:r>
          <a:endParaRPr lang="en-US" dirty="0"/>
        </a:p>
      </dgm:t>
    </dgm:pt>
    <dgm:pt modelId="{BDAF45DE-2CC2-464F-8D08-B806C1CFA1CB}" type="parTrans" cxnId="{4881D75A-F3CD-744B-A4D6-2AF042314E91}">
      <dgm:prSet/>
      <dgm:spPr/>
      <dgm:t>
        <a:bodyPr/>
        <a:lstStyle/>
        <a:p>
          <a:endParaRPr lang="en-US"/>
        </a:p>
      </dgm:t>
    </dgm:pt>
    <dgm:pt modelId="{2B8000B0-666A-0443-90E9-05ACDE1A6A7D}" type="sibTrans" cxnId="{4881D75A-F3CD-744B-A4D6-2AF042314E91}">
      <dgm:prSet/>
      <dgm:spPr/>
      <dgm:t>
        <a:bodyPr/>
        <a:lstStyle/>
        <a:p>
          <a:endParaRPr lang="en-US"/>
        </a:p>
      </dgm:t>
    </dgm:pt>
    <dgm:pt modelId="{776B95B7-7742-C946-AFF9-FE74B8D56C90}">
      <dgm:prSet phldrT="[Text]"/>
      <dgm:spPr/>
      <dgm:t>
        <a:bodyPr/>
        <a:lstStyle/>
        <a:p>
          <a:pPr>
            <a:buNone/>
          </a:pPr>
          <a:r>
            <a:rPr lang="en-CA" b="1" dirty="0"/>
            <a:t>Portability</a:t>
          </a:r>
        </a:p>
        <a:p>
          <a:pPr>
            <a:buNone/>
          </a:pPr>
          <a:endParaRPr lang="en-CA" dirty="0"/>
        </a:p>
        <a:p>
          <a:pPr>
            <a:buNone/>
          </a:pPr>
          <a:r>
            <a:rPr lang="en-CA" dirty="0"/>
            <a:t>Move from local to any cloud without rewrites, avoiding vendor lock-in</a:t>
          </a:r>
          <a:endParaRPr lang="en-US" dirty="0"/>
        </a:p>
      </dgm:t>
    </dgm:pt>
    <dgm:pt modelId="{34FC61AB-7543-9E40-BBA5-83A7128DABF5}" type="parTrans" cxnId="{B7A4F466-49C3-CD4A-AB1D-AEEBFB8CD61A}">
      <dgm:prSet/>
      <dgm:spPr/>
      <dgm:t>
        <a:bodyPr/>
        <a:lstStyle/>
        <a:p>
          <a:endParaRPr lang="en-US"/>
        </a:p>
      </dgm:t>
    </dgm:pt>
    <dgm:pt modelId="{C33E10C7-376D-F041-97AE-F592E00321FE}" type="sibTrans" cxnId="{B7A4F466-49C3-CD4A-AB1D-AEEBFB8CD61A}">
      <dgm:prSet/>
      <dgm:spPr/>
      <dgm:t>
        <a:bodyPr/>
        <a:lstStyle/>
        <a:p>
          <a:endParaRPr lang="en-US"/>
        </a:p>
      </dgm:t>
    </dgm:pt>
    <dgm:pt modelId="{507F64DF-8B7B-994C-8A03-E28994701BD7}" type="pres">
      <dgm:prSet presAssocID="{3E52D07B-FB53-8641-A193-416C3B5D096E}" presName="Name0" presStyleCnt="0">
        <dgm:presLayoutVars>
          <dgm:dir/>
          <dgm:resizeHandles val="exact"/>
        </dgm:presLayoutVars>
      </dgm:prSet>
      <dgm:spPr/>
    </dgm:pt>
    <dgm:pt modelId="{FD35D685-A241-2A47-95E6-CB1D1890E441}" type="pres">
      <dgm:prSet presAssocID="{3E52D07B-FB53-8641-A193-416C3B5D096E}" presName="bkgdShp" presStyleLbl="alignAccFollowNode1" presStyleIdx="0" presStyleCnt="1"/>
      <dgm:spPr/>
    </dgm:pt>
    <dgm:pt modelId="{1D9FD84D-67DF-C146-9C2F-3C787CC9F0AC}" type="pres">
      <dgm:prSet presAssocID="{3E52D07B-FB53-8641-A193-416C3B5D096E}" presName="linComp" presStyleCnt="0"/>
      <dgm:spPr/>
    </dgm:pt>
    <dgm:pt modelId="{D70420D1-DA74-F040-A5B9-33945D4802F2}" type="pres">
      <dgm:prSet presAssocID="{08CCB7C7-3263-3445-839F-2D63FE5E91A9}" presName="compNode" presStyleCnt="0"/>
      <dgm:spPr/>
    </dgm:pt>
    <dgm:pt modelId="{0F64A0B9-25B2-BB43-9C31-B245CC7290E7}" type="pres">
      <dgm:prSet presAssocID="{08CCB7C7-3263-3445-839F-2D63FE5E91A9}" presName="node" presStyleLbl="node1" presStyleIdx="0" presStyleCnt="3">
        <dgm:presLayoutVars>
          <dgm:bulletEnabled val="1"/>
        </dgm:presLayoutVars>
      </dgm:prSet>
      <dgm:spPr/>
    </dgm:pt>
    <dgm:pt modelId="{AFB46CCA-0D5D-2B44-8CA1-64663998EE8C}" type="pres">
      <dgm:prSet presAssocID="{08CCB7C7-3263-3445-839F-2D63FE5E91A9}" presName="invisiNode" presStyleLbl="node1" presStyleIdx="0" presStyleCnt="3"/>
      <dgm:spPr/>
    </dgm:pt>
    <dgm:pt modelId="{85AD208F-A2F4-E84A-8EBD-F1799A6F7854}" type="pres">
      <dgm:prSet presAssocID="{08CCB7C7-3263-3445-839F-2D63FE5E91A9}" presName="imagNode" presStyleLbl="fgImgPlac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7000" b="-17000"/>
          </a:stretch>
        </a:blipFill>
      </dgm:spPr>
      <dgm:extLst>
        <a:ext uri="{E40237B7-FDA0-4F09-8148-C483321AD2D9}">
          <dgm14:cNvPr xmlns:dgm14="http://schemas.microsoft.com/office/drawing/2010/diagram" id="0" name="" descr="Programmer male outline"/>
        </a:ext>
      </dgm:extLst>
    </dgm:pt>
    <dgm:pt modelId="{3A7A3FC8-09C2-AD47-B3D6-8D7C342C966D}" type="pres">
      <dgm:prSet presAssocID="{B5D48B55-2416-554D-88B0-186B34DEE163}" presName="sibTrans" presStyleLbl="sibTrans2D1" presStyleIdx="0" presStyleCnt="0"/>
      <dgm:spPr/>
    </dgm:pt>
    <dgm:pt modelId="{B34384BF-8983-2249-B0F2-4F8466646709}" type="pres">
      <dgm:prSet presAssocID="{0708E886-B9A1-8745-AB23-2C4AE2B6D9ED}" presName="compNode" presStyleCnt="0"/>
      <dgm:spPr/>
    </dgm:pt>
    <dgm:pt modelId="{FC186DD0-4D60-C447-86F2-D1DEB0BCC752}" type="pres">
      <dgm:prSet presAssocID="{0708E886-B9A1-8745-AB23-2C4AE2B6D9ED}" presName="node" presStyleLbl="node1" presStyleIdx="1" presStyleCnt="3">
        <dgm:presLayoutVars>
          <dgm:bulletEnabled val="1"/>
        </dgm:presLayoutVars>
      </dgm:prSet>
      <dgm:spPr/>
    </dgm:pt>
    <dgm:pt modelId="{84A09EC9-6AFA-144F-9778-3CD0939919CB}" type="pres">
      <dgm:prSet presAssocID="{0708E886-B9A1-8745-AB23-2C4AE2B6D9ED}" presName="invisiNode" presStyleLbl="node1" presStyleIdx="1" presStyleCnt="3"/>
      <dgm:spPr/>
    </dgm:pt>
    <dgm:pt modelId="{C68A904C-A0AA-FC4E-9668-3000059CFBCC}" type="pres">
      <dgm:prSet presAssocID="{0708E886-B9A1-8745-AB23-2C4AE2B6D9ED}" presName="imagNode" presStyleLbl="fgImgPlace1" presStyleIdx="1" presStyleCnt="3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47000" b="-47000"/>
          </a:stretch>
        </a:blipFill>
      </dgm:spPr>
      <dgm:extLst>
        <a:ext uri="{E40237B7-FDA0-4F09-8148-C483321AD2D9}">
          <dgm14:cNvPr xmlns:dgm14="http://schemas.microsoft.com/office/drawing/2010/diagram" id="0" name="" descr="Flask outline"/>
        </a:ext>
      </dgm:extLst>
    </dgm:pt>
    <dgm:pt modelId="{67ED3726-12E6-904D-9C13-7BE329F7FB87}" type="pres">
      <dgm:prSet presAssocID="{2B8000B0-666A-0443-90E9-05ACDE1A6A7D}" presName="sibTrans" presStyleLbl="sibTrans2D1" presStyleIdx="0" presStyleCnt="0"/>
      <dgm:spPr/>
    </dgm:pt>
    <dgm:pt modelId="{763F212A-10F2-1348-80E2-4649F0704E03}" type="pres">
      <dgm:prSet presAssocID="{776B95B7-7742-C946-AFF9-FE74B8D56C90}" presName="compNode" presStyleCnt="0"/>
      <dgm:spPr/>
    </dgm:pt>
    <dgm:pt modelId="{96BBACB4-9A2B-6D4A-9B78-BD3E9AC130BD}" type="pres">
      <dgm:prSet presAssocID="{776B95B7-7742-C946-AFF9-FE74B8D56C90}" presName="node" presStyleLbl="node1" presStyleIdx="2" presStyleCnt="3">
        <dgm:presLayoutVars>
          <dgm:bulletEnabled val="1"/>
        </dgm:presLayoutVars>
      </dgm:prSet>
      <dgm:spPr/>
    </dgm:pt>
    <dgm:pt modelId="{0EA1E836-7832-D948-8B52-6381B8028E90}" type="pres">
      <dgm:prSet presAssocID="{776B95B7-7742-C946-AFF9-FE74B8D56C90}" presName="invisiNode" presStyleLbl="node1" presStyleIdx="2" presStyleCnt="3"/>
      <dgm:spPr/>
    </dgm:pt>
    <dgm:pt modelId="{07715CC1-3EEB-1F4D-A991-32645705680E}" type="pres">
      <dgm:prSet presAssocID="{776B95B7-7742-C946-AFF9-FE74B8D56C90}" presName="imagNode" presStyleLbl="fgImgPlac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22000" b="-22000"/>
          </a:stretch>
        </a:blipFill>
      </dgm:spPr>
      <dgm:extLst>
        <a:ext uri="{E40237B7-FDA0-4F09-8148-C483321AD2D9}">
          <dgm14:cNvPr xmlns:dgm14="http://schemas.microsoft.com/office/drawing/2010/diagram" id="0" name="" descr="Usb Stick outline"/>
        </a:ext>
      </dgm:extLst>
    </dgm:pt>
  </dgm:ptLst>
  <dgm:cxnLst>
    <dgm:cxn modelId="{5B87B91A-E3B8-CD42-A303-E1D2C65AFF8A}" type="presOf" srcId="{B5D48B55-2416-554D-88B0-186B34DEE163}" destId="{3A7A3FC8-09C2-AD47-B3D6-8D7C342C966D}" srcOrd="0" destOrd="0" presId="urn:microsoft.com/office/officeart/2005/8/layout/pList2"/>
    <dgm:cxn modelId="{D5134A4E-E7FA-6546-ADF1-758FEF392ACA}" type="presOf" srcId="{0708E886-B9A1-8745-AB23-2C4AE2B6D9ED}" destId="{FC186DD0-4D60-C447-86F2-D1DEB0BCC752}" srcOrd="0" destOrd="0" presId="urn:microsoft.com/office/officeart/2005/8/layout/pList2"/>
    <dgm:cxn modelId="{4881D75A-F3CD-744B-A4D6-2AF042314E91}" srcId="{3E52D07B-FB53-8641-A193-416C3B5D096E}" destId="{0708E886-B9A1-8745-AB23-2C4AE2B6D9ED}" srcOrd="1" destOrd="0" parTransId="{BDAF45DE-2CC2-464F-8D08-B806C1CFA1CB}" sibTransId="{2B8000B0-666A-0443-90E9-05ACDE1A6A7D}"/>
    <dgm:cxn modelId="{B7A4F466-49C3-CD4A-AB1D-AEEBFB8CD61A}" srcId="{3E52D07B-FB53-8641-A193-416C3B5D096E}" destId="{776B95B7-7742-C946-AFF9-FE74B8D56C90}" srcOrd="2" destOrd="0" parTransId="{34FC61AB-7543-9E40-BBA5-83A7128DABF5}" sibTransId="{C33E10C7-376D-F041-97AE-F592E00321FE}"/>
    <dgm:cxn modelId="{4416F07E-E612-FF43-ABCB-F7F33944860F}" type="presOf" srcId="{2B8000B0-666A-0443-90E9-05ACDE1A6A7D}" destId="{67ED3726-12E6-904D-9C13-7BE329F7FB87}" srcOrd="0" destOrd="0" presId="urn:microsoft.com/office/officeart/2005/8/layout/pList2"/>
    <dgm:cxn modelId="{A6601FAB-6517-5945-B23C-7FA3F76BA189}" type="presOf" srcId="{3E52D07B-FB53-8641-A193-416C3B5D096E}" destId="{507F64DF-8B7B-994C-8A03-E28994701BD7}" srcOrd="0" destOrd="0" presId="urn:microsoft.com/office/officeart/2005/8/layout/pList2"/>
    <dgm:cxn modelId="{CE20CDB4-B740-FE4B-A047-0A6CD7F7AD26}" type="presOf" srcId="{08CCB7C7-3263-3445-839F-2D63FE5E91A9}" destId="{0F64A0B9-25B2-BB43-9C31-B245CC7290E7}" srcOrd="0" destOrd="0" presId="urn:microsoft.com/office/officeart/2005/8/layout/pList2"/>
    <dgm:cxn modelId="{D0CF1DD6-DAF9-3142-A971-956F0DE3D91E}" srcId="{3E52D07B-FB53-8641-A193-416C3B5D096E}" destId="{08CCB7C7-3263-3445-839F-2D63FE5E91A9}" srcOrd="0" destOrd="0" parTransId="{61E694DC-1600-9D40-8DA8-97C3E23C7627}" sibTransId="{B5D48B55-2416-554D-88B0-186B34DEE163}"/>
    <dgm:cxn modelId="{058F98EF-279B-A44C-83C6-801079CE607C}" type="presOf" srcId="{776B95B7-7742-C946-AFF9-FE74B8D56C90}" destId="{96BBACB4-9A2B-6D4A-9B78-BD3E9AC130BD}" srcOrd="0" destOrd="0" presId="urn:microsoft.com/office/officeart/2005/8/layout/pList2"/>
    <dgm:cxn modelId="{5A687CBA-17E5-384B-99EA-0141D5AA56FD}" type="presParOf" srcId="{507F64DF-8B7B-994C-8A03-E28994701BD7}" destId="{FD35D685-A241-2A47-95E6-CB1D1890E441}" srcOrd="0" destOrd="0" presId="urn:microsoft.com/office/officeart/2005/8/layout/pList2"/>
    <dgm:cxn modelId="{BA31D4B9-229B-B043-929D-C6C565B17588}" type="presParOf" srcId="{507F64DF-8B7B-994C-8A03-E28994701BD7}" destId="{1D9FD84D-67DF-C146-9C2F-3C787CC9F0AC}" srcOrd="1" destOrd="0" presId="urn:microsoft.com/office/officeart/2005/8/layout/pList2"/>
    <dgm:cxn modelId="{4C2085C3-C7FB-A947-9216-7CF7A748CFFA}" type="presParOf" srcId="{1D9FD84D-67DF-C146-9C2F-3C787CC9F0AC}" destId="{D70420D1-DA74-F040-A5B9-33945D4802F2}" srcOrd="0" destOrd="0" presId="urn:microsoft.com/office/officeart/2005/8/layout/pList2"/>
    <dgm:cxn modelId="{033F262E-1D3A-814A-80D2-DA58A5BA92BC}" type="presParOf" srcId="{D70420D1-DA74-F040-A5B9-33945D4802F2}" destId="{0F64A0B9-25B2-BB43-9C31-B245CC7290E7}" srcOrd="0" destOrd="0" presId="urn:microsoft.com/office/officeart/2005/8/layout/pList2"/>
    <dgm:cxn modelId="{5FEA9B86-EE15-2948-AA70-724A1C0C0FE7}" type="presParOf" srcId="{D70420D1-DA74-F040-A5B9-33945D4802F2}" destId="{AFB46CCA-0D5D-2B44-8CA1-64663998EE8C}" srcOrd="1" destOrd="0" presId="urn:microsoft.com/office/officeart/2005/8/layout/pList2"/>
    <dgm:cxn modelId="{B2248CD2-4B6D-6F46-BCC7-677EC4BC8118}" type="presParOf" srcId="{D70420D1-DA74-F040-A5B9-33945D4802F2}" destId="{85AD208F-A2F4-E84A-8EBD-F1799A6F7854}" srcOrd="2" destOrd="0" presId="urn:microsoft.com/office/officeart/2005/8/layout/pList2"/>
    <dgm:cxn modelId="{75E3E7F3-57E0-3D45-AA3C-4200E3190C18}" type="presParOf" srcId="{1D9FD84D-67DF-C146-9C2F-3C787CC9F0AC}" destId="{3A7A3FC8-09C2-AD47-B3D6-8D7C342C966D}" srcOrd="1" destOrd="0" presId="urn:microsoft.com/office/officeart/2005/8/layout/pList2"/>
    <dgm:cxn modelId="{9B1E716D-9784-DC4A-8E70-2D997B64D4F9}" type="presParOf" srcId="{1D9FD84D-67DF-C146-9C2F-3C787CC9F0AC}" destId="{B34384BF-8983-2249-B0F2-4F8466646709}" srcOrd="2" destOrd="0" presId="urn:microsoft.com/office/officeart/2005/8/layout/pList2"/>
    <dgm:cxn modelId="{D5F4B593-33C5-2A4D-A5FB-4DD7D249E8C2}" type="presParOf" srcId="{B34384BF-8983-2249-B0F2-4F8466646709}" destId="{FC186DD0-4D60-C447-86F2-D1DEB0BCC752}" srcOrd="0" destOrd="0" presId="urn:microsoft.com/office/officeart/2005/8/layout/pList2"/>
    <dgm:cxn modelId="{1C60CA6E-116E-B446-8E67-1E130903C9C7}" type="presParOf" srcId="{B34384BF-8983-2249-B0F2-4F8466646709}" destId="{84A09EC9-6AFA-144F-9778-3CD0939919CB}" srcOrd="1" destOrd="0" presId="urn:microsoft.com/office/officeart/2005/8/layout/pList2"/>
    <dgm:cxn modelId="{97426E0F-109D-E641-B1AC-541CFFA7D839}" type="presParOf" srcId="{B34384BF-8983-2249-B0F2-4F8466646709}" destId="{C68A904C-A0AA-FC4E-9668-3000059CFBCC}" srcOrd="2" destOrd="0" presId="urn:microsoft.com/office/officeart/2005/8/layout/pList2"/>
    <dgm:cxn modelId="{C7084805-6F5C-9844-A72B-40F7E77D0DB7}" type="presParOf" srcId="{1D9FD84D-67DF-C146-9C2F-3C787CC9F0AC}" destId="{67ED3726-12E6-904D-9C13-7BE329F7FB87}" srcOrd="3" destOrd="0" presId="urn:microsoft.com/office/officeart/2005/8/layout/pList2"/>
    <dgm:cxn modelId="{59350462-F2F3-0149-890F-6A8AD2773E53}" type="presParOf" srcId="{1D9FD84D-67DF-C146-9C2F-3C787CC9F0AC}" destId="{763F212A-10F2-1348-80E2-4649F0704E03}" srcOrd="4" destOrd="0" presId="urn:microsoft.com/office/officeart/2005/8/layout/pList2"/>
    <dgm:cxn modelId="{D809D07B-05DA-F546-8744-BBC386C381D7}" type="presParOf" srcId="{763F212A-10F2-1348-80E2-4649F0704E03}" destId="{96BBACB4-9A2B-6D4A-9B78-BD3E9AC130BD}" srcOrd="0" destOrd="0" presId="urn:microsoft.com/office/officeart/2005/8/layout/pList2"/>
    <dgm:cxn modelId="{F2BF7764-F4BA-1547-B32B-D2210A814057}" type="presParOf" srcId="{763F212A-10F2-1348-80E2-4649F0704E03}" destId="{0EA1E836-7832-D948-8B52-6381B8028E90}" srcOrd="1" destOrd="0" presId="urn:microsoft.com/office/officeart/2005/8/layout/pList2"/>
    <dgm:cxn modelId="{47E43FC8-F535-764A-9737-E793189D45C8}" type="presParOf" srcId="{763F212A-10F2-1348-80E2-4649F0704E03}" destId="{07715CC1-3EEB-1F4D-A991-32645705680E}" srcOrd="2" destOrd="0" presId="urn:microsoft.com/office/officeart/2005/8/layout/p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35D685-A241-2A47-95E6-CB1D1890E441}">
      <dsp:nvSpPr>
        <dsp:cNvPr id="0" name=""/>
        <dsp:cNvSpPr/>
      </dsp:nvSpPr>
      <dsp:spPr>
        <a:xfrm>
          <a:off x="0" y="0"/>
          <a:ext cx="10515600" cy="2161893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AD208F-A2F4-E84A-8EBD-F1799A6F7854}">
      <dsp:nvSpPr>
        <dsp:cNvPr id="0" name=""/>
        <dsp:cNvSpPr/>
      </dsp:nvSpPr>
      <dsp:spPr>
        <a:xfrm>
          <a:off x="315468" y="288252"/>
          <a:ext cx="3088957" cy="15853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t="-17000" b="-17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64A0B9-25B2-BB43-9C31-B245CC7290E7}">
      <dsp:nvSpPr>
        <dsp:cNvPr id="0" name=""/>
        <dsp:cNvSpPr/>
      </dsp:nvSpPr>
      <dsp:spPr>
        <a:xfrm rot="10800000">
          <a:off x="315468" y="2161893"/>
          <a:ext cx="3088957" cy="2642314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b="1" kern="1200" dirty="0"/>
            <a:t>Full Control &amp; Customization</a:t>
          </a:r>
          <a:br>
            <a:rPr lang="en-CA" sz="1700" b="1" kern="1200" dirty="0"/>
          </a:br>
          <a:endParaRPr lang="en-CA" sz="1700" b="1" kern="1200" dirty="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kern="1200" dirty="0"/>
            <a:t>Code-first agents can use any model, tool, or data source - not limited to pre-defined connectors or templates</a:t>
          </a:r>
          <a:endParaRPr lang="en-US" sz="1700" kern="1200" dirty="0"/>
        </a:p>
      </dsp:txBody>
      <dsp:txXfrm rot="10800000">
        <a:off x="396728" y="2161893"/>
        <a:ext cx="2926437" cy="2561054"/>
      </dsp:txXfrm>
    </dsp:sp>
    <dsp:sp modelId="{C68A904C-A0AA-FC4E-9668-3000059CFBCC}">
      <dsp:nvSpPr>
        <dsp:cNvPr id="0" name=""/>
        <dsp:cNvSpPr/>
      </dsp:nvSpPr>
      <dsp:spPr>
        <a:xfrm>
          <a:off x="3713321" y="288252"/>
          <a:ext cx="3088957" cy="15853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t="-47000" b="-47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186DD0-4D60-C447-86F2-D1DEB0BCC752}">
      <dsp:nvSpPr>
        <dsp:cNvPr id="0" name=""/>
        <dsp:cNvSpPr/>
      </dsp:nvSpPr>
      <dsp:spPr>
        <a:xfrm rot="10800000">
          <a:off x="3713321" y="2161893"/>
          <a:ext cx="3088957" cy="2642314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b="1" kern="1200" dirty="0"/>
            <a:t>Local Experimentation</a:t>
          </a:r>
          <a:br>
            <a:rPr lang="en-CA" sz="1700" b="1" kern="1200" dirty="0"/>
          </a:br>
          <a:endParaRPr lang="en-CA" sz="1700" kern="1200" dirty="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kern="1200" dirty="0"/>
            <a:t>Run agents on your laptop with your preferred IDEs (VS Code, GitHub) with no cloud dependency; debug, test, and integrate into CI/CD pipelines before scaling</a:t>
          </a:r>
          <a:endParaRPr lang="en-US" sz="1700" kern="1200" dirty="0"/>
        </a:p>
      </dsp:txBody>
      <dsp:txXfrm rot="10800000">
        <a:off x="3794581" y="2161893"/>
        <a:ext cx="2926437" cy="2561054"/>
      </dsp:txXfrm>
    </dsp:sp>
    <dsp:sp modelId="{07715CC1-3EEB-1F4D-A991-32645705680E}">
      <dsp:nvSpPr>
        <dsp:cNvPr id="0" name=""/>
        <dsp:cNvSpPr/>
      </dsp:nvSpPr>
      <dsp:spPr>
        <a:xfrm>
          <a:off x="7111174" y="288252"/>
          <a:ext cx="3088957" cy="15853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t="-22000" b="-22000"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6BBACB4-9A2B-6D4A-9B78-BD3E9AC130BD}">
      <dsp:nvSpPr>
        <dsp:cNvPr id="0" name=""/>
        <dsp:cNvSpPr/>
      </dsp:nvSpPr>
      <dsp:spPr>
        <a:xfrm rot="10800000">
          <a:off x="7111174" y="2161893"/>
          <a:ext cx="3088957" cy="2642314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b="1" kern="1200" dirty="0"/>
            <a:t>Portability</a:t>
          </a:r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CA" sz="1700" kern="1200" dirty="0"/>
        </a:p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700" kern="1200" dirty="0"/>
            <a:t>Move from local to any cloud without rewrites, avoiding vendor lock-in</a:t>
          </a:r>
          <a:endParaRPr lang="en-US" sz="1700" kern="1200" dirty="0"/>
        </a:p>
      </dsp:txBody>
      <dsp:txXfrm rot="10800000">
        <a:off x="7192434" y="2161893"/>
        <a:ext cx="2926437" cy="25610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List2">
  <dgm:title val=""/>
  <dgm:desc val=""/>
  <dgm:catLst>
    <dgm:cat type="list" pri="11000"/>
    <dgm:cat type="picture" pri="24000"/>
    <dgm:cat type="pictureconvert" pri="2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bkgdShp" refType="w"/>
      <dgm:constr type="h" for="ch" forName="bkgdShp" refType="h" fact="0.45"/>
      <dgm:constr type="t" for="ch" forName="bkgdShp"/>
      <dgm:constr type="w" for="ch" forName="linComp" refType="w" fact="0.94"/>
      <dgm:constr type="h" for="ch" forName="linComp" refType="h"/>
      <dgm:constr type="ctrX" for="ch" forName="linComp" refType="w" fact="0.5"/>
    </dgm:constrLst>
    <dgm:ruleLst/>
    <dgm:choose name="Name1">
      <dgm:if name="Name2" axis="ch" ptType="node" func="cnt" op="gte" val="1">
        <dgm:layoutNode name="bkgdShp" styleLbl="alignAccFollow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linComp">
          <dgm:choose name="Name3">
            <dgm:if name="Name4" func="var" arg="dir" op="equ" val="norm">
              <dgm:alg type="lin"/>
            </dgm:if>
            <dgm:else name="Name5">
              <dgm:alg type="lin">
                <dgm:param type="linDir" val="from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w" for="ch" forName="compNode" refType="w"/>
            <dgm:constr type="h" for="ch" forName="compNode" refType="h"/>
            <dgm:constr type="w" for="ch" ptType="sibTrans" refType="w" refFor="ch" refForName="compNode" fact="0.1"/>
            <dgm:constr type="h" for="ch" ptType="sibTrans" op="equ"/>
            <dgm:constr type="h" for="ch" forName="compNode" op="equ"/>
            <dgm:constr type="primFontSz" for="des" forName="node" op="equ"/>
          </dgm:constrLst>
          <dgm:ruleLst/>
          <dgm:forEach name="nodesForEach" axis="ch" ptType="node">
            <dgm:layoutNode name="compNode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node" refType="w"/>
                <dgm:constr type="h" for="ch" forName="node" refType="h" fact="0.55"/>
                <dgm:constr type="b" for="ch" forName="node" refType="h"/>
                <dgm:constr type="w" for="ch" forName="invisiNode" refType="w" fact="0.75"/>
                <dgm:constr type="h" for="ch" forName="invisiNode" refType="h" fact="0.06"/>
                <dgm:constr type="t" for="ch" forName="invisiNode"/>
                <dgm:constr type="w" for="ch" forName="imagNode" refType="w"/>
                <dgm:constr type="h" for="ch" forName="imagNode" refType="h" fact="0.33"/>
                <dgm:constr type="ctrX" for="ch" forName="imagNode" refType="w" fact="0.5"/>
                <dgm:constr type="t" for="ch" forName="imagNode" refType="h" fact="0.06"/>
              </dgm:constrLst>
              <dgm:ruleLst/>
              <dgm:layoutNode name="node" styleLbl="node1">
                <dgm:varLst>
                  <dgm:bulletEnabled val="1"/>
                </dgm:varLst>
                <dgm:alg type="tx">
                  <dgm:param type="txAnchorVert" val="t"/>
                </dgm:alg>
                <dgm:shape xmlns:r="http://schemas.openxmlformats.org/officeDocument/2006/relationships" rot="180" type="round2Same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primFontSz" val="65"/>
                </dgm:constrLst>
                <dgm:ruleLst>
                  <dgm:rule type="primFontSz" val="5" fact="NaN" max="NaN"/>
                </dgm:ruleLst>
              </dgm:layoutNode>
              <dgm:layoutNode name="invisiNode">
                <dgm:alg type="sp"/>
                <dgm:shape xmlns:r="http://schemas.openxmlformats.org/officeDocument/2006/relationships" type="roundRect" r:blip="" hideGeom="1">
                  <dgm:adjLst>
                    <dgm:adj idx="1" val="0.1"/>
                  </dgm:adjLst>
                </dgm:shape>
                <dgm:presOf/>
                <dgm:constrLst/>
                <dgm:ruleLst/>
              </dgm:layoutNode>
              <dgm:layoutNode name="imagNode" styleLbl="fgImgPlace1">
                <dgm:alg type="sp"/>
                <dgm:shape xmlns:r="http://schemas.openxmlformats.org/officeDocument/2006/relationships" type="roundRect" r:blip="" zOrderOff="-2" blipPhldr="1">
                  <dgm:adjLst>
                    <dgm:adj idx="1" val="0.1"/>
                  </dgm:adjLst>
                </dgm:shape>
                <dgm:presOf/>
                <dgm:constrLst/>
                <dgm:ruleLst/>
              </dgm:layoutNode>
            </dgm:layoutNode>
            <dgm:forEach name="sibTransForEach" axis="followSib" ptType="sibTrans" cnt="1">
              <dgm:layoutNode name="sibTrans">
                <dgm:alg type="sp"/>
                <dgm:shape xmlns:r="http://schemas.openxmlformats.org/officeDocument/2006/relationships" type="rect" r:blip="" hideGeom="1">
                  <dgm:adjLst/>
                </dgm:shape>
                <dgm:presOf axis="self"/>
                <dgm:constrLst/>
                <dgm:ruleLst/>
              </dgm:layoutNode>
            </dgm:forEach>
          </dgm:forEach>
        </dgm:layoutNode>
      </dgm:if>
      <dgm:else name="Name6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5674F1-98A6-594B-85E4-D3870963F00F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1743B-B06C-E44B-A5E9-9443A6F571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691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8319F-61CD-A140-8E73-A0E0B626379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5193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8319F-61CD-A140-8E73-A0E0B626379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8279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B8574-7945-3BF8-361F-4345F797E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F3E84A-687C-F4F6-526F-0136DA50B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66C60C-1BA8-6C5D-A97A-7623ADB6F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microsoft</a:t>
            </a:r>
            <a:r>
              <a:rPr lang="en-US" dirty="0"/>
              <a:t>/agent-framework/blob/main/dotnet/samples/GettingStarted/Workflows/_Foundational/01_ExecutorsAndEdges/</a:t>
            </a:r>
            <a:r>
              <a:rPr lang="en-US" dirty="0" err="1"/>
              <a:t>Program.cs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4501FC-46B6-6B43-5905-5018C6ED94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8319F-61CD-A140-8E73-A0E0B626379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70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0F83F-AD9D-32DA-CB20-CD92310B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8B65A5-A8F8-148F-35C7-393A478C31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F42FD0-A883-19B0-CBF4-C90B1D051F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Microsoft.Agents.AI.Workflows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namespace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WorkflowExecutorsAndEdgesSample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&lt;summary&gt;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This sample introduces the concepts of executors and edges in a workflow.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Workflows are built from executors (processing units) connected by edges (data flow paths).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In this example, we create a simple text processing pipeline that: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1. Takes input text and converts it to uppercase using an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UppercaseExecutor</a:t>
            </a: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2. Takes the uppercase text and reverses it using a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ReverseTextExecutor</a:t>
            </a: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The executors are connected sequentially, so data flows from one to the next in order.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For input "Hello, World!", the workflow produces "!DLROW ,OLLEH".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&lt;/summary&gt;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static class Program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private static async Task Main()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Create the executors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Func&lt;string, string&gt;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uppercaseFunc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s =&gt;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s.ToUpperInvariant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 uppercase =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uppercaseFunc.BindAsExecutor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UppercaseExecutor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");</a:t>
            </a:r>
          </a:p>
          <a:p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ReverseTextExecutor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reverse = new();</a:t>
            </a:r>
          </a:p>
          <a:p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Build the workflow by connecting executors sequentially</a:t>
            </a:r>
          </a:p>
          <a:p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WorkflowBuilder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builder = new(uppercase);</a:t>
            </a:r>
          </a:p>
          <a:p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builder.AddEdge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(uppercase, reverse).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WithOutputFrom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(reverse);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 workflow =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builder.Build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</a:t>
            </a:r>
          </a:p>
          <a:p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Execute the workflow with input data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await using Run run = await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InProcessExecution.RunAsync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(workflow, "Hello, World!");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foreach (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WorkflowEvent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run.NewEvents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(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ExecutorCompletedEvent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executorComplete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($"{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executorComplete.ExecutorId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}: {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executorComplete.Data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}");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CA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&lt;summary&gt;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Second executor: reverses the input text and completes the workflow.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&lt;/summary&gt;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 sealed class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ReverseTextExecutor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 : Executor&lt;string, string&gt;("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ReverseTextExecutor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")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&lt;summary&gt;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Processes the input message by reversing the text.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&lt;/summary&gt;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&lt;param name="message"&gt;The input text to reverse&lt;/param&gt;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&lt;param name="context"&gt;Workflow context for accessing workflow services and adding events&lt;/param&gt;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&lt;param name="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cancellationToken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"&gt;The &lt;see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cref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CancellationToken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"/&gt; to monitor for cancellation requests.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The default is &lt;see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cref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CancellationToken.None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"/&gt;.&lt;/param&gt;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/// &lt;returns&gt;The input text reversed&lt;/returns&gt;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override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ValueTask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&lt;string&gt;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HandleAsync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(string message,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IWorkflowContext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context,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CancellationToken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cancellationToken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default)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// Because we do not suppress it, the returned result will be yielded as an output from this executor.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return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ValueTask.FromResult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string.Concat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message.Reverse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()));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4F1D4-0B30-9A5F-566C-C708A427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8319F-61CD-A140-8E73-A0E0B626379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421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B21D1-C55F-5E14-54C9-70AE67C8F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D1969-3CD8-2537-4263-401F2DCF78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B58740-1122-8C92-8CF9-8E5958948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microsoft</a:t>
            </a:r>
            <a:r>
              <a:rPr lang="en-US" dirty="0"/>
              <a:t>/agent-framework/blob/main/dotnet/samples/GettingStarted/Workflows/_Foundational/01_ExecutorsAndEdges/</a:t>
            </a:r>
            <a:r>
              <a:rPr lang="en-US" dirty="0" err="1"/>
              <a:t>Program.cs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AD343-8D26-9820-4EAD-3AD6C21D91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38319F-61CD-A140-8E73-A0E0B626379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20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7FE2C-D462-6AF6-2346-C038C6CD11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AD7577-4678-ABC2-1431-9735884ECB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51C05-85FF-3164-87C7-E273DFE8E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40295-0ECB-D560-7907-BA2893684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94ACE-6E74-50E7-15C1-C03B75900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76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0B6E5-1576-FD36-D210-A5DB2066A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50FE39-91BD-777A-79E1-1A156A72C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7E5C5F-81C3-D1B3-5929-5CA8C31F6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CA3F64-1E67-5180-6C94-7651FE97C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72D0FE-FEB4-2D8A-DEEB-FDD9A0A99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532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F29B8-B876-A94D-860D-23978768A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E36978-FA01-7BA7-E992-67B0D1DDB0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6CB8C-51CA-EAA1-8E9D-81DAEA624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03153-BF56-B569-6B6F-1E8154E3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D1B57-68D4-69FF-9D57-432DC8BA9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0961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B8ECC-2C2E-F1F8-C4FE-C875926FF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EE9AB-F93F-F180-87BA-0F3C763AA7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8DE520-BFE2-D7D6-E8CB-135E7CA8FE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46984-0EFB-BE1F-B6F8-FA0A32985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58A858-E22D-97F7-A366-10C9CB82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BE665D-01D0-7A3E-85C8-B516896EA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3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51263-2414-6CE7-A709-2A05E0F6E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EEF92B-7A0A-F1C1-CFCB-783BAB1A3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B34747-4A12-F814-820C-DE2ACDCD4D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7B8341-72A5-9F57-E805-B13534DCFB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DC8ACF-A7F6-5952-6509-FF941303C2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9491F3-DA8E-CDB4-12E2-5A7B4D01F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24BBEF-CCB8-A56C-2F47-3E38AC826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40CD1C-37C6-08F5-9FBF-970DF64B7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709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BE463-3D45-B27C-50C3-C391020AA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C19DBF-3F9A-4065-04D7-412D9B9D3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8F15DC-FE2E-5665-47C6-A9D3A0DC2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38BE93-7CA4-0350-DED4-C56DA1908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96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0DC29C-20D8-2F60-8A63-B8D8B047C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2C2B9-C867-B166-C216-10F7EE185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8BFAA9-CBC1-CBD7-673C-E29CEB5A7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370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684FB-BB4B-4144-B285-C3A2E7025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3CDCDF-41E8-2C78-09AA-363A0133B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B87200-CE37-1BF6-77DA-ED03FDFA8B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784BDA-A3EC-A539-47A4-44991A042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D0E38-044A-2E02-8321-53B85C9D6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6E0359-13B4-9D7D-AC41-F13EDD351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950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3F8DA-EBDA-4934-5BE7-A67DAC631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7B441E-250C-9012-7690-38D4F4718C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E2212C-7593-4E3D-E3C9-532C0732B3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9B57D-E90B-1CFF-57DC-05B57D6B4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86070A-435E-0817-7DEC-97DA8BC27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7FDFA-1AC9-EAE6-8F3F-837429358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730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26FB-6BA6-4B3B-12D4-1320918D9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0D886D-EA63-CEDA-60F0-31E2BF7F8A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3D4B3-558E-29E6-BC57-442E6D749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0FA3E8-B12C-CFAA-6A93-65C6C0B4D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99C37F-6548-EFD2-56E9-723C32204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164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19AEAFB-48B4-095C-0D98-4EE49CC9E6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663208-868D-6FC2-3447-426A6F84B4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D24282-D67C-8C40-9588-B9D7FF5B3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DB9ED-E045-134F-B3F2-C9B359932CAC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0A59EE-8FC5-DEF0-62A5-CAF2F3CE9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19B4C-D5F5-237A-1FB7-62A60E12B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76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4F5C33-2539-109C-B5A4-7355E95C6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F766F9-716A-651B-5E85-9C4C3062EA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331602-FD18-5F0F-A45D-8D75BD40DF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1DB9ED-E045-134F-B3F2-C9B359932CAC}" type="datetimeFigureOut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C451D-FC50-E7E2-AB27-BF9F3D458E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F5C4DB-2803-3A47-4875-00912DD45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B5FD52-2A0C-7243-8F9A-0F09DC99A7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641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crosoft/agent-framewor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F5EFDA-2945-9863-8C4A-17B637439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33121"/>
            <a:ext cx="9144000" cy="2387600"/>
          </a:xfrm>
        </p:spPr>
        <p:txBody>
          <a:bodyPr/>
          <a:lstStyle/>
          <a:p>
            <a:r>
              <a:rPr lang="en-US" dirty="0"/>
              <a:t>Microsoft Agent Framework Workshop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D6AD6-DBBB-B972-47F8-01187B86DB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2565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6274A-AA9D-7F05-5671-4B9064994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8043" y="590062"/>
            <a:ext cx="9597618" cy="185740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 kern="1200" dirty="0">
                <a:latin typeface="+mj-lt"/>
                <a:ea typeface="+mj-ea"/>
                <a:cs typeface="+mj-cs"/>
              </a:rPr>
              <a:t>What is Microsoft Agent Framework?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59864F-2233-3DCE-AA79-9E895B498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2291" y="920555"/>
            <a:ext cx="4039709" cy="40397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3746E37-D315-3891-4895-D56D89CFB73F}"/>
              </a:ext>
            </a:extLst>
          </p:cNvPr>
          <p:cNvSpPr txBox="1"/>
          <p:nvPr/>
        </p:nvSpPr>
        <p:spPr>
          <a:xfrm>
            <a:off x="1923389" y="5855821"/>
            <a:ext cx="97061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https://github.com/microsoft/agent-framework</a:t>
            </a: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33830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51DAA7-7897-3019-6EBB-2266A68FD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Sematic Kernel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47F52F1-2624-598E-BB66-256B212C834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CA" dirty="0"/>
              <a:t>Open-source SDK from Microsoft for building Al-powered applications</a:t>
            </a:r>
          </a:p>
          <a:p>
            <a:r>
              <a:rPr lang="en-CA" dirty="0"/>
              <a:t>﻿﻿It helps developers embed reasoning and natural-language capabilities into apps "AI as a function call"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017C157-0F33-B0CD-F987-2721C5C3DC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CA" dirty="0" err="1"/>
              <a:t>AutoGen</a:t>
            </a:r>
            <a:endParaRPr lang="en-CA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DE6E443-B052-8FF4-1A98-E6577D399C4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CA" dirty="0"/>
              <a:t>Open-source framework from</a:t>
            </a:r>
          </a:p>
          <a:p>
            <a:r>
              <a:rPr lang="en-CA" dirty="0"/>
              <a:t>Microsoft Research for building multi-agent systems </a:t>
            </a:r>
            <a:r>
              <a:rPr lang="en-CA" dirty="0" err="1"/>
              <a:t>ie</a:t>
            </a:r>
            <a:r>
              <a:rPr lang="en-CA" dirty="0"/>
              <a:t>. multiple LLM agents talking to each other and collaborating to solve problems.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9F06B7-8DB6-7DE3-9DCB-546219668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591" y="213519"/>
            <a:ext cx="1943100" cy="18796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3A8669-1416-E3FA-65D6-19A72BB618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9646" y="668337"/>
            <a:ext cx="1165036" cy="11452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85BBE5-2BAA-33F9-AAED-C9C4644658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2511" y="525722"/>
            <a:ext cx="1642035" cy="1567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679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0EE851-CA97-4D66-7CB0-7AF1ECEB6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Microsoft Agent Framework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21A70F-4195-1AC8-033A-1A1A347741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Open-source SDK and runtime from Microsoft for building, orchestrating and deploying Al agents and multi-agent workflows</a:t>
            </a:r>
          </a:p>
          <a:p>
            <a:r>
              <a:rPr lang="en-CA" dirty="0"/>
              <a:t>﻿﻿Supports both .NET (C#) and Python</a:t>
            </a:r>
          </a:p>
          <a:p>
            <a:r>
              <a:rPr lang="en-CA" dirty="0"/>
              <a:t>﻿﻿Unifies </a:t>
            </a:r>
            <a:r>
              <a:rPr lang="en-CA" i="1" dirty="0"/>
              <a:t>Semantic Kernel </a:t>
            </a:r>
            <a:r>
              <a:rPr lang="en-CA" dirty="0"/>
              <a:t>and </a:t>
            </a:r>
            <a:r>
              <a:rPr lang="en-CA" i="1" dirty="0" err="1"/>
              <a:t>AutoGen</a:t>
            </a:r>
            <a:r>
              <a:rPr lang="en-CA" dirty="0"/>
              <a:t> into a single framework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95F9C16-3255-4037-1F0C-7CA54A2E77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556" y="496000"/>
            <a:ext cx="1020856" cy="998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767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68D0B77-2734-3DAE-F6EA-FB5CAD1F4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70" y="306549"/>
            <a:ext cx="10046922" cy="595273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5756AF7-01F7-5399-2AAD-CAEA4F4389CA}"/>
              </a:ext>
            </a:extLst>
          </p:cNvPr>
          <p:cNvSpPr txBox="1"/>
          <p:nvPr/>
        </p:nvSpPr>
        <p:spPr>
          <a:xfrm rot="18855078">
            <a:off x="3782973" y="4900293"/>
            <a:ext cx="17746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FF0000"/>
                </a:solidFill>
              </a:rPr>
              <a:t>ReAct</a:t>
            </a:r>
            <a:r>
              <a:rPr lang="en-US" sz="1400" dirty="0">
                <a:solidFill>
                  <a:srgbClr val="FF0000"/>
                </a:solidFill>
              </a:rPr>
              <a:t>: Reason + Act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07515C-0758-0B83-073C-9B36A44AB82C}"/>
              </a:ext>
            </a:extLst>
          </p:cNvPr>
          <p:cNvSpPr txBox="1"/>
          <p:nvPr/>
        </p:nvSpPr>
        <p:spPr>
          <a:xfrm rot="18855078">
            <a:off x="3362025" y="2753092"/>
            <a:ext cx="11577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Reasoning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7B39E3-5102-CC73-8D7E-D0264264B280}"/>
              </a:ext>
            </a:extLst>
          </p:cNvPr>
          <p:cNvSpPr txBox="1"/>
          <p:nvPr/>
        </p:nvSpPr>
        <p:spPr>
          <a:xfrm>
            <a:off x="6486225" y="1936664"/>
            <a:ext cx="6656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Act</a:t>
            </a:r>
          </a:p>
        </p:txBody>
      </p:sp>
    </p:spTree>
    <p:extLst>
      <p:ext uri="{BB962C8B-B14F-4D97-AF65-F5344CB8AC3E}">
        <p14:creationId xmlns:p14="http://schemas.microsoft.com/office/powerpoint/2010/main" val="2099878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753501-4875-471E-A225-7A9208123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2022"/>
            <a:ext cx="12192000" cy="7002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192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5D2248-09AB-C21D-AB23-B1476579EA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450" y="2533650"/>
            <a:ext cx="7531100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543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AD0ABB-C943-E11C-7D33-772A9D057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Why Build Agents in Code?</a:t>
            </a:r>
            <a:endParaRPr lang="en-US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9E274E3-05F9-6BB2-CC1C-BA3265B9A4E5}"/>
              </a:ext>
            </a:extLst>
          </p:cNvPr>
          <p:cNvGraphicFramePr/>
          <p:nvPr/>
        </p:nvGraphicFramePr>
        <p:xfrm>
          <a:off x="704538" y="1688667"/>
          <a:ext cx="10515600" cy="48042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470705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C88F9-CA86-57A1-9F0C-B72D14F05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42BC-6879-79A6-8169-BB7F4BC3C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Producing Structured Output with Agents</a:t>
            </a:r>
          </a:p>
          <a:p>
            <a:r>
              <a:rPr lang="en-US" dirty="0"/>
              <a:t>Using an agent as a function tool</a:t>
            </a:r>
          </a:p>
          <a:p>
            <a:r>
              <a:rPr lang="en-US" dirty="0"/>
              <a:t>Create a Simple Sequential Workflow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80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BC60-C615-E762-9323-7F160490C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Producing Structured Output with Agents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0159F-28F5-84F6-8C8F-D473545F5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270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A651B-EE1E-7DAE-9E63-ADC851277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structured output with an agent?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A529-D423-F01C-A412-975BEA452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Structured output with an agent means that an AI agent is designed to return its results in a predefined, machine-readable format, instead of free-form text</a:t>
            </a:r>
          </a:p>
          <a:p>
            <a:r>
              <a:rPr lang="en-US" dirty="0"/>
              <a:t>In simple terms:</a:t>
            </a:r>
          </a:p>
          <a:p>
            <a:pPr marL="0" indent="0">
              <a:buNone/>
            </a:pPr>
            <a:r>
              <a:rPr lang="en-US" dirty="0"/>
              <a:t>👉 The agent doesn’t just talk - it responds with data that other systems can reliably consume.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853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41D2BA-E338-693C-B857-63CCEBFFC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is structured output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C2217-BED9-5007-E892-FD0D38EB9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Structured output is important because it makes AI reliable, automatable, and safe to integrate into real systems.</a:t>
            </a:r>
          </a:p>
          <a:p>
            <a:r>
              <a:rPr lang="en-US" dirty="0"/>
              <a:t>We can enable dynamic analysis of business rules.</a:t>
            </a:r>
          </a:p>
          <a:p>
            <a:r>
              <a:rPr lang="en-US" dirty="0"/>
              <a:t>For example, a fintech operating with Bitcoin and equities needs to send user-friendly notifications about:</a:t>
            </a:r>
          </a:p>
          <a:p>
            <a:pPr lvl="1"/>
            <a:r>
              <a:rPr lang="en-US" dirty="0"/>
              <a:t>new investments</a:t>
            </a:r>
          </a:p>
          <a:p>
            <a:pPr lvl="1"/>
            <a:r>
              <a:rPr lang="en-US" dirty="0"/>
              <a:t>price appreciation and depreciation,</a:t>
            </a:r>
          </a:p>
          <a:p>
            <a:pPr lvl="1"/>
            <a:r>
              <a:rPr lang="en-US" dirty="0"/>
              <a:t>market movements and growth trends.</a:t>
            </a:r>
          </a:p>
        </p:txBody>
      </p:sp>
    </p:spTree>
    <p:extLst>
      <p:ext uri="{BB962C8B-B14F-4D97-AF65-F5344CB8AC3E}">
        <p14:creationId xmlns:p14="http://schemas.microsoft.com/office/powerpoint/2010/main" val="41623560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ED850-934C-D220-CFB1-ABB886BAF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structured output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FC3D6-0506-7108-8F6C-B7239574E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can design a set of microservices, exposing APIs that receive data and instructions, supported by classes that can interact with one another.</a:t>
            </a:r>
          </a:p>
          <a:p>
            <a:r>
              <a:rPr lang="en-US" dirty="0"/>
              <a:t>Each class encapsulates its own AI-driven business logic and is able to orchestrate with other components, producing high-quality and consistent results.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5394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66805-D4D2-EFDF-D088-406FD03F1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06D2B-6F02-B58B-D1DF-782050172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Another use case is leveraging structured inputs, such as friendly, guided questions, and connecting the agent directly to database inputs.</a:t>
            </a:r>
          </a:p>
          <a:p>
            <a:r>
              <a:rPr lang="en-US" dirty="0"/>
              <a:t>Additionally, we can:</a:t>
            </a:r>
          </a:p>
          <a:p>
            <a:pPr lvl="1"/>
            <a:r>
              <a:rPr lang="en-US" dirty="0"/>
              <a:t>define regex-based rules for data filtering</a:t>
            </a:r>
          </a:p>
          <a:p>
            <a:pPr lvl="1"/>
            <a:r>
              <a:rPr lang="en-US" dirty="0"/>
              <a:t>orchestrate API workflows</a:t>
            </a:r>
          </a:p>
          <a:p>
            <a:pPr lvl="1"/>
            <a:r>
              <a:rPr lang="en-US" dirty="0"/>
              <a:t>perform data transformation and enrichment</a:t>
            </a:r>
          </a:p>
          <a:p>
            <a:r>
              <a:rPr lang="en-US" dirty="0"/>
              <a:t>In this context, structured output allows us to make our APIs significantly more dynamic, enabling them to produce precise, actionable, and business-oriented information.</a:t>
            </a:r>
          </a:p>
          <a:p>
            <a:r>
              <a:rPr lang="en-US" dirty="0"/>
              <a:t>What would traditionally require two development sprints to implement a complex architecture can be delivered in significantly less time using structured output, with greater predictability, lower complexity, and faster time to value.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638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BAC40C-AD99-ED98-D324-94A9D485B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Demonstration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086445-8FE7-D98F-DD98-DFE92F4F9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PATCH /employees:</a:t>
            </a:r>
            <a:br>
              <a:rPr lang="en-US" dirty="0"/>
            </a:br>
            <a:r>
              <a:rPr lang="en-US" dirty="0"/>
              <a:t>Reads Chat Config, executes an Azure OpenAI agent that generates an </a:t>
            </a:r>
            <a:r>
              <a:rPr lang="en-US" dirty="0" err="1"/>
              <a:t>AIResponse</a:t>
            </a:r>
            <a:r>
              <a:rPr lang="en-US" dirty="0"/>
              <a:t>, which is used as a filter (</a:t>
            </a:r>
            <a:r>
              <a:rPr lang="en-US" dirty="0" err="1"/>
              <a:t>filter.AIAnswer</a:t>
            </a:r>
            <a:r>
              <a:rPr lang="en-US" dirty="0"/>
              <a:t>) to query the Employee Repository, and return the list of employees.</a:t>
            </a:r>
          </a:p>
          <a:p>
            <a:endParaRPr lang="en-US" dirty="0"/>
          </a:p>
          <a:p>
            <a:r>
              <a:rPr lang="en-US" dirty="0"/>
              <a:t>POST /agent-run:</a:t>
            </a:r>
            <a:br>
              <a:rPr lang="en-US" dirty="0"/>
            </a:br>
            <a:r>
              <a:rPr lang="en-US" dirty="0"/>
              <a:t>Reads Chat Config, executes an Azure OpenAI agent that produces a </a:t>
            </a:r>
            <a:r>
              <a:rPr lang="en-US" dirty="0" err="1"/>
              <a:t>PersonInfo</a:t>
            </a:r>
            <a:r>
              <a:rPr lang="en-US" dirty="0"/>
              <a:t> JSON, deserializes it, and returns the </a:t>
            </a:r>
            <a:r>
              <a:rPr lang="en-US" dirty="0" err="1"/>
              <a:t>PersonInfo</a:t>
            </a:r>
            <a:r>
              <a:rPr lang="en-US" dirty="0"/>
              <a:t> object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6911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FEA734-04ED-6057-EE12-3A1234170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77C13-8CB3-0F97-CCE3-39E0D52CA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Producing Structured Output with Agents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7AA632-9795-6CDA-71BD-74E2E6690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2275251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CD7B5-6A72-6048-2B2E-04713365A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44267-8FD1-E90A-86E2-2FA9E556F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an agent as a function tool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63DAD-B891-5E7F-B21C-B7872F23B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1261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47F22-3C08-6213-6437-A5161DAEE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38919-A63C-B955-149B-A9BB8F6D26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designed to handle complex and long-running processes that might involve multiple agents, human interactions, and integrations with external systems</a:t>
            </a:r>
          </a:p>
          <a:p>
            <a:endParaRPr lang="en-US" dirty="0"/>
          </a:p>
          <a:p>
            <a:r>
              <a:rPr lang="en-US" dirty="0"/>
              <a:t>often require more than one AI agent</a:t>
            </a:r>
          </a:p>
        </p:txBody>
      </p:sp>
    </p:spTree>
    <p:extLst>
      <p:ext uri="{BB962C8B-B14F-4D97-AF65-F5344CB8AC3E}">
        <p14:creationId xmlns:p14="http://schemas.microsoft.com/office/powerpoint/2010/main" val="26479262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3C8D0-1F38-7885-C534-214A055A6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B7D64-F0E8-D75A-2550-7DA948078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Sequential Workflow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9EAC47-5169-4E17-FC21-37527180A2AC}"/>
              </a:ext>
            </a:extLst>
          </p:cNvPr>
          <p:cNvSpPr txBox="1"/>
          <p:nvPr/>
        </p:nvSpPr>
        <p:spPr>
          <a:xfrm>
            <a:off x="838200" y="3859968"/>
            <a:ext cx="9445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Lucida Console" panose="020B0609040504020204" pitchFamily="49" charset="0"/>
              </a:rPr>
              <a:t>dotnet add package </a:t>
            </a:r>
            <a:r>
              <a:rPr lang="en-US" dirty="0" err="1">
                <a:latin typeface="Lucida Console" panose="020B0609040504020204" pitchFamily="49" charset="0"/>
              </a:rPr>
              <a:t>Microsoft.Agents.AI.Workflows</a:t>
            </a:r>
            <a:r>
              <a:rPr lang="en-US" dirty="0">
                <a:latin typeface="Lucida Console" panose="020B0609040504020204" pitchFamily="49" charset="0"/>
              </a:rPr>
              <a:t> --prerelease</a:t>
            </a:r>
          </a:p>
        </p:txBody>
      </p:sp>
      <p:pic>
        <p:nvPicPr>
          <p:cNvPr id="3" name="Picture 2" descr="wf01 image">
            <a:extLst>
              <a:ext uri="{FF2B5EF4-FFF2-40B4-BE49-F238E27FC236}">
                <a16:creationId xmlns:a16="http://schemas.microsoft.com/office/drawing/2014/main" id="{22F11CF5-D3D0-A8F3-9F37-A8D81EEC7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6974" y="1359108"/>
            <a:ext cx="18415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8270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1A384-214D-6C22-DD56-AE1F917D2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EFB308-4DEC-0C4E-78E7-ED8E428E3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53C1C-25F7-796E-AE3A-48A2121095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Sequential Workflow</a:t>
            </a:r>
          </a:p>
        </p:txBody>
      </p:sp>
    </p:spTree>
    <p:extLst>
      <p:ext uri="{BB962C8B-B14F-4D97-AF65-F5344CB8AC3E}">
        <p14:creationId xmlns:p14="http://schemas.microsoft.com/office/powerpoint/2010/main" val="1245150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99D5C-D2FA-E553-73FB-71E253C78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EEA69-CD29-0677-FA8D-57950CA00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Concurrent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DBAF1-B85C-CDD0-44E3-3B6CD49F88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514347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Implement fan-out and fan-in patterns that enable parallel processing, allowing multiple executors or agents to work simultaneously and then aggregate their results.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31C3EB-414E-9E60-8D1B-C89BBB2B78CD}"/>
              </a:ext>
            </a:extLst>
          </p:cNvPr>
          <p:cNvSpPr txBox="1"/>
          <p:nvPr/>
        </p:nvSpPr>
        <p:spPr>
          <a:xfrm>
            <a:off x="838200" y="3859968"/>
            <a:ext cx="9445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Lucida Console" panose="020B0609040504020204" pitchFamily="49" charset="0"/>
              </a:rPr>
              <a:t>dotnet add package </a:t>
            </a:r>
            <a:r>
              <a:rPr lang="en-US" dirty="0" err="1">
                <a:latin typeface="Lucida Console" panose="020B0609040504020204" pitchFamily="49" charset="0"/>
              </a:rPr>
              <a:t>Microsoft.Agents.AI.Workflows</a:t>
            </a:r>
            <a:r>
              <a:rPr lang="en-US" dirty="0">
                <a:latin typeface="Lucida Console" panose="020B0609040504020204" pitchFamily="49" charset="0"/>
              </a:rPr>
              <a:t> --prerelease</a:t>
            </a:r>
          </a:p>
        </p:txBody>
      </p:sp>
      <p:pic>
        <p:nvPicPr>
          <p:cNvPr id="1028" name="Picture 4" descr="Screenshot 2025 10 23 at 4 04 36 PM image">
            <a:extLst>
              <a:ext uri="{FF2B5EF4-FFF2-40B4-BE49-F238E27FC236}">
                <a16:creationId xmlns:a16="http://schemas.microsoft.com/office/drawing/2014/main" id="{077FC480-B1A6-3974-0C44-FA6483E5E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852" y="1954968"/>
            <a:ext cx="30988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89930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CA2539-F6F6-BF9B-DFB4-11E15B039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as a function tool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3E9DE1-CFD1-64A9-4C84-7E47819F6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agent as a function tool means treating an AI agent like a callable function inside your system — with defined inputs, a clear contract, and structured outputs, instead of free-form conversation.</a:t>
            </a:r>
          </a:p>
          <a:p>
            <a:endParaRPr lang="en-US" dirty="0"/>
          </a:p>
          <a:p>
            <a:r>
              <a:rPr lang="en-US" dirty="0"/>
              <a:t>In other words:</a:t>
            </a:r>
          </a:p>
          <a:p>
            <a:pPr marL="0" indent="0">
              <a:buNone/>
            </a:pPr>
            <a:r>
              <a:rPr lang="en-US" dirty="0"/>
              <a:t>👉 the agent behaves like software, not a chatbot</a:t>
            </a:r>
          </a:p>
        </p:txBody>
      </p:sp>
    </p:spTree>
    <p:extLst>
      <p:ext uri="{BB962C8B-B14F-4D97-AF65-F5344CB8AC3E}">
        <p14:creationId xmlns:p14="http://schemas.microsoft.com/office/powerpoint/2010/main" val="1520377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EE92C-DB1C-C4F8-9D2F-E74F49D00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Core idea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856F2-A4F0-8014-CDDF-8D9CEF8D2B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agent:</a:t>
            </a:r>
          </a:p>
          <a:p>
            <a:pPr lvl="1"/>
            <a:r>
              <a:rPr lang="en-US" dirty="0"/>
              <a:t>Conversational</a:t>
            </a:r>
          </a:p>
          <a:p>
            <a:pPr lvl="1"/>
            <a:r>
              <a:rPr lang="en-US" dirty="0"/>
              <a:t>Unstructured text output</a:t>
            </a:r>
          </a:p>
          <a:p>
            <a:pPr lvl="1"/>
            <a:r>
              <a:rPr lang="en-US" dirty="0"/>
              <a:t>Hard to integrate</a:t>
            </a:r>
          </a:p>
          <a:p>
            <a:r>
              <a:rPr lang="en-US" dirty="0"/>
              <a:t>Agent as a function tool:</a:t>
            </a:r>
          </a:p>
          <a:p>
            <a:pPr lvl="1"/>
            <a:r>
              <a:rPr lang="en-US" dirty="0"/>
              <a:t>Invoked programmatically</a:t>
            </a:r>
          </a:p>
          <a:p>
            <a:pPr lvl="1"/>
            <a:r>
              <a:rPr lang="en-US" dirty="0"/>
              <a:t>Receives structured input</a:t>
            </a:r>
          </a:p>
          <a:p>
            <a:pPr lvl="1"/>
            <a:r>
              <a:rPr lang="en-US" dirty="0"/>
              <a:t>Returns structured output</a:t>
            </a:r>
          </a:p>
          <a:p>
            <a:pPr lvl="1"/>
            <a:r>
              <a:rPr lang="en-US" dirty="0"/>
              <a:t>Can be composed, validated, and reused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7183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6E252-8A50-63C8-EC4E-EEF5FC5EE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C334A-B6D3-A75D-6FE5-D883D4E4E2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Prerequisites: Set up the environment (Azure, .NET, packages)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C# function: Write a method with discrete business logic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Convert to tool: Use </a:t>
            </a:r>
            <a:r>
              <a:rPr lang="en-US" i="1" dirty="0" err="1"/>
              <a:t>AIFunctionFactory.Create</a:t>
            </a:r>
            <a:endParaRPr lang="en-US" i="1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Create agent: Inject tools when creating the </a:t>
            </a:r>
            <a:r>
              <a:rPr lang="en-US" i="1" dirty="0" err="1"/>
              <a:t>AIAgent</a:t>
            </a:r>
            <a:endParaRPr lang="en-US" i="1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Invoke / test: Send a prompt to the agent and evaluate the response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Agent as tool (advanced): Expose an agent as a tool for other agents</a:t>
            </a:r>
          </a:p>
        </p:txBody>
      </p:sp>
    </p:spTree>
    <p:extLst>
      <p:ext uri="{BB962C8B-B14F-4D97-AF65-F5344CB8AC3E}">
        <p14:creationId xmlns:p14="http://schemas.microsoft.com/office/powerpoint/2010/main" val="27193866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CF306-DC66-0BCB-250A-F41AE080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92D7A-7E15-F526-EE51-B78BA3F55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an agent as a function tool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3E86B-4EE2-1CC0-A776-E45394FD7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8730582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8E3A6-A611-BB92-A910-90FDBE6A7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2BFD1-41E7-DE4D-ECAD-6D8EFAF7E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Plan Presentation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64A273-7EA9-9BF0-92F7-EF3412F20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88461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9212A-07BD-FB08-C865-BEBA0BD4C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84EA9-3830-94AE-8775-B6B9DC87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DFDD2B-EA92-2211-DAF0-2A21CA01F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6513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D23F8-02F0-700A-7EBF-5D55986E7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317FB1-345B-2816-5A6E-2E9F0992F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Microsoft’s Sequential Workflow is an AI orchestration model in which multiple steps are executed in a fixed order, in a deterministic and controlled manner, using agents, tools, and structured outputs.</a:t>
            </a:r>
          </a:p>
          <a:p>
            <a:r>
              <a:rPr lang="en-US" dirty="0"/>
              <a:t>It is part of the Microsoft Agent Framework and is designed for predictable, business-critical processes, rather than open-ended conversations.</a:t>
            </a:r>
          </a:p>
          <a:p>
            <a:r>
              <a:rPr lang="en-US" dirty="0"/>
              <a:t>In simple terms</a:t>
            </a:r>
          </a:p>
          <a:p>
            <a:pPr lvl="1"/>
            <a:r>
              <a:rPr lang="en-US" dirty="0"/>
              <a:t>“Execute Step A → then Step B → then Step C,</a:t>
            </a:r>
            <a:br>
              <a:rPr lang="en-US" dirty="0"/>
            </a:br>
            <a:r>
              <a:rPr lang="en-US" dirty="0"/>
              <a:t> passing the output of one step as the input to the next.”</a:t>
            </a:r>
          </a:p>
        </p:txBody>
      </p:sp>
    </p:spTree>
    <p:extLst>
      <p:ext uri="{BB962C8B-B14F-4D97-AF65-F5344CB8AC3E}">
        <p14:creationId xmlns:p14="http://schemas.microsoft.com/office/powerpoint/2010/main" val="39036454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38F91-F0DA-2F8A-4745-AEF4F47DD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8A9C6-F2B4-C7A5-FBCE-D53236FE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F089D-43DF-6579-1C5C-EFC89DE57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Each step can:</a:t>
            </a:r>
          </a:p>
          <a:p>
            <a:pPr lvl="1"/>
            <a:r>
              <a:rPr lang="en-US" dirty="0"/>
              <a:t>invoke an AI agent</a:t>
            </a:r>
          </a:p>
          <a:p>
            <a:pPr lvl="1"/>
            <a:r>
              <a:rPr lang="en-US" dirty="0"/>
              <a:t>call a function tool</a:t>
            </a:r>
          </a:p>
          <a:p>
            <a:pPr lvl="1"/>
            <a:r>
              <a:rPr lang="en-US" dirty="0"/>
              <a:t>validate structured output</a:t>
            </a:r>
          </a:p>
          <a:p>
            <a:r>
              <a:rPr lang="en-US" dirty="0"/>
              <a:t>decide whether to continue, stop, or fail the workflow</a:t>
            </a:r>
          </a:p>
          <a:p>
            <a:r>
              <a:rPr lang="en-US" dirty="0"/>
              <a:t>Key characteristics of a Sequential Workflow</a:t>
            </a:r>
          </a:p>
          <a:p>
            <a:pPr marL="457200" lvl="1" indent="0">
              <a:buNone/>
            </a:pPr>
            <a:r>
              <a:rPr lang="en-US" dirty="0"/>
              <a:t>✔ Linear, ordered execution</a:t>
            </a:r>
          </a:p>
          <a:p>
            <a:pPr marL="457200" lvl="1" indent="0">
              <a:buNone/>
            </a:pPr>
            <a:r>
              <a:rPr lang="en-US" dirty="0"/>
              <a:t>✔ Each step depends on the previous step’s output</a:t>
            </a:r>
          </a:p>
          <a:p>
            <a:pPr marL="457200" lvl="1" indent="0">
              <a:buNone/>
            </a:pPr>
            <a:r>
              <a:rPr lang="en-US" dirty="0"/>
              <a:t>✔ Structured inputs and outputs</a:t>
            </a:r>
          </a:p>
          <a:p>
            <a:pPr marL="457200" lvl="1" indent="0">
              <a:buNone/>
            </a:pPr>
            <a:r>
              <a:rPr lang="en-US" dirty="0"/>
              <a:t>✔ Easy to audit, test, and monitor</a:t>
            </a:r>
          </a:p>
          <a:p>
            <a:pPr marL="457200" lvl="1" indent="0">
              <a:buNone/>
            </a:pPr>
            <a:r>
              <a:rPr lang="en-US" dirty="0"/>
              <a:t>✔ Ideal for regulated and enterprise workflows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32367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F2307-83D0-AD35-EEA3-A39508174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0E3D7-0D8E-C778-E9E6-CF69DC55F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Workflows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7FDF27-23F0-7F3B-637F-6921B9731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533470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</TotalTime>
  <Words>1546</Words>
  <Application>Microsoft Macintosh PowerPoint</Application>
  <PresentationFormat>Widescreen</PresentationFormat>
  <Paragraphs>182</Paragraphs>
  <Slides>30</Slides>
  <Notes>5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Lucida Console</vt:lpstr>
      <vt:lpstr>Office Theme</vt:lpstr>
      <vt:lpstr>Microsoft Agent Framework Workshop</vt:lpstr>
      <vt:lpstr>What is Microsoft Agent Framework?</vt:lpstr>
      <vt:lpstr>PowerPoint Presentation</vt:lpstr>
      <vt:lpstr>Microsoft Agent Framework</vt:lpstr>
      <vt:lpstr>PowerPoint Presentation</vt:lpstr>
      <vt:lpstr>PowerPoint Presentation</vt:lpstr>
      <vt:lpstr>PowerPoint Presentation</vt:lpstr>
      <vt:lpstr>Why Build Agents in Code?</vt:lpstr>
      <vt:lpstr>Topics</vt:lpstr>
      <vt:lpstr>Producing Structured Output with Agents</vt:lpstr>
      <vt:lpstr>What is structured output with an agent?</vt:lpstr>
      <vt:lpstr>Why is structured output important?</vt:lpstr>
      <vt:lpstr>Why is structured output important?</vt:lpstr>
      <vt:lpstr>Another Use Case</vt:lpstr>
      <vt:lpstr>Demonstration</vt:lpstr>
      <vt:lpstr>Producing Structured Output with Agents</vt:lpstr>
      <vt:lpstr>Using an agent as a function tool</vt:lpstr>
      <vt:lpstr>Workflows</vt:lpstr>
      <vt:lpstr>Simple Sequential Workflow</vt:lpstr>
      <vt:lpstr>Demo</vt:lpstr>
      <vt:lpstr>Simple Concurrent Workflow</vt:lpstr>
      <vt:lpstr>Agent as a function tool </vt:lpstr>
      <vt:lpstr>Core idea</vt:lpstr>
      <vt:lpstr>Process</vt:lpstr>
      <vt:lpstr>Using an agent as a function tool</vt:lpstr>
      <vt:lpstr>Business Plan Presentation</vt:lpstr>
      <vt:lpstr>Sequential Workflows</vt:lpstr>
      <vt:lpstr>Sequential Workflows</vt:lpstr>
      <vt:lpstr>Sequential Workflows</vt:lpstr>
      <vt:lpstr>Sequential Workflows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Medhat Elmasry</dc:creator>
  <cp:lastModifiedBy>Medhat Elmasry</cp:lastModifiedBy>
  <cp:revision>7</cp:revision>
  <dcterms:created xsi:type="dcterms:W3CDTF">2026-01-12T19:58:18Z</dcterms:created>
  <dcterms:modified xsi:type="dcterms:W3CDTF">2026-01-20T21:23:00Z</dcterms:modified>
</cp:coreProperties>
</file>